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75" r:id="rId9"/>
    <p:sldId id="262" r:id="rId10"/>
    <p:sldId id="273" r:id="rId11"/>
    <p:sldId id="276" r:id="rId12"/>
    <p:sldId id="288" r:id="rId13"/>
    <p:sldId id="286" r:id="rId14"/>
    <p:sldId id="271" r:id="rId15"/>
    <p:sldId id="283" r:id="rId16"/>
    <p:sldId id="279" r:id="rId17"/>
    <p:sldId id="284" r:id="rId18"/>
    <p:sldId id="266" r:id="rId19"/>
    <p:sldId id="277" r:id="rId20"/>
    <p:sldId id="281" r:id="rId21"/>
    <p:sldId id="265" r:id="rId22"/>
    <p:sldId id="282" r:id="rId23"/>
    <p:sldId id="272" r:id="rId24"/>
    <p:sldId id="280" r:id="rId25"/>
    <p:sldId id="287" r:id="rId26"/>
    <p:sldId id="285" r:id="rId27"/>
    <p:sldId id="267" r:id="rId28"/>
    <p:sldId id="269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38" y="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7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870448"/>
            <a:ext cx="12191695" cy="73152"/>
          </a:xfrm>
          <a:prstGeom prst="rect">
            <a:avLst/>
          </a:prstGeom>
          <a:solidFill>
            <a:srgbClr val="14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5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0" y="4114800"/>
            <a:ext cx="3200400" cy="3200400"/>
          </a:xfrm>
          <a:prstGeom prst="ellipse">
            <a:avLst/>
          </a:prstGeom>
          <a:solidFill>
            <a:srgbClr val="14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0" y="-457200"/>
            <a:ext cx="1828800" cy="1828800"/>
          </a:xfrm>
          <a:prstGeom prst="ellipse">
            <a:avLst/>
          </a:prstGeom>
          <a:solidFill>
            <a:srgbClr val="19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5811" y="102870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CATCHQ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872" y="1914884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BA8D"/>
                </a:solidFill>
                <a:latin typeface="Calibri"/>
              </a:defRPr>
            </a:pPr>
            <a:r>
              <a:rPr dirty="0"/>
              <a:t>India's Clinic &amp; Hospital Operating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422956"/>
            <a:ext cx="228600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496" y="3239655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8DCF0"/>
                </a:solidFill>
                <a:latin typeface="Calibri"/>
              </a:defRPr>
            </a:pPr>
            <a:r>
              <a:rPr dirty="0"/>
              <a:t>WhatsApp booking, AI-powered diagnosis, real-time queue management,</a:t>
            </a:r>
            <a:br>
              <a:rPr dirty="0"/>
            </a:br>
            <a:r>
              <a:rPr dirty="0"/>
              <a:t>digital billing, pharmacy integration, and hospital bed tracking</a:t>
            </a:r>
            <a:br>
              <a:rPr dirty="0"/>
            </a:br>
            <a:r>
              <a:rPr dirty="0"/>
              <a:t>- all in one platform for India's 10 Lakh+ clinics.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684" y="4956048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Platinum Jubilee Seed Fund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684" y="5351919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4C8DC"/>
                </a:solidFill>
                <a:latin typeface="Calibri"/>
              </a:defRPr>
            </a:pPr>
            <a:r>
              <a:rPr dirty="0"/>
              <a:t>IIT Kharagpur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80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CATCHQ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8F0DC"/>
                </a:solidFill>
                <a:latin typeface="Calibri"/>
              </a:defRPr>
            </a:pPr>
            <a:r>
              <a:t>Healthcare shouldn't start with waiting. It should start with CatchQ.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03D438-5748-44E7-FF2E-8A2EF73E6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85" y="114300"/>
            <a:ext cx="1429880" cy="985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India manages healthcare with WhatsApp messages, phone calls, and paper registers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2743200" cy="2194560"/>
          </a:xfrm>
          <a:prstGeom prst="round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73152" cy="2194560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2920" y="1600200"/>
            <a:ext cx="365760" cy="365760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61848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60020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DC3C3C"/>
                </a:solidFill>
                <a:latin typeface="Calibri"/>
              </a:defRPr>
            </a:pPr>
            <a:r>
              <a:t>Missed 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0312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82828C"/>
                </a:solidFill>
                <a:latin typeface="Calibri"/>
              </a:defRPr>
            </a:pPr>
            <a:r>
              <a:t>Clinics lose 30-40% of bookings</a:t>
            </a:r>
            <a:br/>
            <a:r>
              <a:t>to missed phone calls during</a:t>
            </a:r>
            <a:br/>
            <a:r>
              <a:t>consultation hours. No voicemail.</a:t>
            </a:r>
            <a:br/>
            <a:r>
              <a:t>No callback system.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463040"/>
            <a:ext cx="2743200" cy="2194560"/>
          </a:xfrm>
          <a:prstGeom prst="round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91840" y="1463040"/>
            <a:ext cx="73152" cy="2194560"/>
          </a:xfrm>
          <a:prstGeom prst="rect">
            <a:avLst/>
          </a:prstGeom>
          <a:solidFill>
            <a:srgbClr val="C87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429000" y="1600200"/>
            <a:ext cx="365760" cy="365760"/>
          </a:xfrm>
          <a:prstGeom prst="ellipse">
            <a:avLst/>
          </a:prstGeom>
          <a:solidFill>
            <a:srgbClr val="C87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29000" y="161848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160020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C8781E"/>
                </a:solidFill>
                <a:latin typeface="Calibri"/>
              </a:defRPr>
            </a:pPr>
            <a:r>
              <a:t>No Digital Booking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10312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82828C"/>
                </a:solidFill>
                <a:latin typeface="Calibri"/>
              </a:defRPr>
            </a:pPr>
            <a:r>
              <a:t>90% of Indian clinics have no</a:t>
            </a:r>
            <a:br/>
            <a:r>
              <a:t>online booking. Patients must</a:t>
            </a:r>
            <a:br/>
            <a:r>
              <a:t>call during business hours</a:t>
            </a:r>
            <a:br/>
            <a:r>
              <a:t>or walk in and wait.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463040"/>
            <a:ext cx="2743200" cy="2194560"/>
          </a:xfrm>
          <a:prstGeom prst="round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1463040"/>
            <a:ext cx="73152" cy="2194560"/>
          </a:xfrm>
          <a:prstGeom prst="rect">
            <a:avLst/>
          </a:prstGeom>
          <a:solidFill>
            <a:srgbClr val="A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55080" y="1600200"/>
            <a:ext cx="365760" cy="365760"/>
          </a:xfrm>
          <a:prstGeom prst="ellipse">
            <a:avLst/>
          </a:prstGeom>
          <a:solidFill>
            <a:srgbClr val="A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161848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160020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A050A0"/>
                </a:solidFill>
                <a:latin typeface="Calibri"/>
              </a:defRPr>
            </a:pPr>
            <a:r>
              <a:t>Zero Visibility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10312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82828C"/>
                </a:solidFill>
                <a:latin typeface="Calibri"/>
              </a:defRPr>
            </a:pPr>
            <a:r>
              <a:t>Patients have no idea how long</a:t>
            </a:r>
            <a:br/>
            <a:r>
              <a:t>the wait is. They call repeatedly</a:t>
            </a:r>
            <a:br/>
            <a:r>
              <a:t>or arrive early and waste</a:t>
            </a:r>
            <a:br/>
            <a:r>
              <a:t>hours in the waiting room.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1463040"/>
            <a:ext cx="2743200" cy="2194560"/>
          </a:xfrm>
          <a:prstGeom prst="round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44000" y="1463040"/>
            <a:ext cx="73152" cy="2194560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281160" y="1600200"/>
            <a:ext cx="365760" cy="365760"/>
          </a:xfrm>
          <a:prstGeom prst="ellipse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81160" y="161848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160020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646478"/>
                </a:solidFill>
                <a:latin typeface="Calibri"/>
              </a:defRPr>
            </a:pPr>
            <a:r>
              <a:t>Paper Records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210312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82828C"/>
                </a:solidFill>
                <a:latin typeface="Calibri"/>
              </a:defRPr>
            </a:pPr>
            <a:r>
              <a:t>Patient history on paper.</a:t>
            </a:r>
            <a:br/>
            <a:r>
              <a:t>Lab reports via WhatsApp.</a:t>
            </a:r>
            <a:br/>
            <a:r>
              <a:t>No digital trail. No analytics.</a:t>
            </a:r>
            <a:br/>
            <a:r>
              <a:t>Prescriptions lost.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023360"/>
            <a:ext cx="2743200" cy="2194560"/>
          </a:xfrm>
          <a:prstGeom prst="round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5760" y="4023360"/>
            <a:ext cx="73152" cy="2194560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02920" y="4160520"/>
            <a:ext cx="365760" cy="365760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417880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1605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DC3C3C"/>
                </a:solidFill>
                <a:latin typeface="Calibri"/>
              </a:defRPr>
            </a:pPr>
            <a:r>
              <a:t>No-Show Crisis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66344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82828C"/>
                </a:solidFill>
                <a:latin typeface="Calibri"/>
              </a:defRPr>
            </a:pPr>
            <a:r>
              <a:t>40% of booked appointments</a:t>
            </a:r>
            <a:br/>
            <a:r>
              <a:t>result in no-shows. Clinics</a:t>
            </a:r>
            <a:br/>
            <a:r>
              <a:t>lose Rs. 2-5 Lakh monthly</a:t>
            </a:r>
            <a:br/>
            <a:r>
              <a:t>with zero recovery mechanism.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1840" y="4023360"/>
            <a:ext cx="2743200" cy="2194560"/>
          </a:xfrm>
          <a:prstGeom prst="round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91840" y="4023360"/>
            <a:ext cx="73152" cy="2194560"/>
          </a:xfrm>
          <a:prstGeom prst="rect">
            <a:avLst/>
          </a:prstGeom>
          <a:solidFill>
            <a:srgbClr val="B4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429000" y="4160520"/>
            <a:ext cx="365760" cy="365760"/>
          </a:xfrm>
          <a:prstGeom prst="ellipse">
            <a:avLst/>
          </a:prstGeom>
          <a:solidFill>
            <a:srgbClr val="B4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29000" y="417880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86200" y="41605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B48C3C"/>
                </a:solidFill>
                <a:latin typeface="Calibri"/>
              </a:defRPr>
            </a:pPr>
            <a:r>
              <a:t>Billing Chaos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466344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82828C"/>
                </a:solidFill>
                <a:latin typeface="Calibri"/>
              </a:defRPr>
            </a:pPr>
            <a:r>
              <a:t>Manual billing. Cash-only.</a:t>
            </a:r>
            <a:br/>
            <a:r>
              <a:t>No insurance integration.</a:t>
            </a:r>
            <a:br/>
            <a:r>
              <a:t>Patients get no digital</a:t>
            </a:r>
            <a:br/>
            <a:r>
              <a:t>receipt or summary.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4023360"/>
            <a:ext cx="2743200" cy="2194560"/>
          </a:xfrm>
          <a:prstGeom prst="round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17920" y="4023360"/>
            <a:ext cx="73152" cy="2194560"/>
          </a:xfrm>
          <a:prstGeom prst="rect">
            <a:avLst/>
          </a:prstGeom>
          <a:solidFill>
            <a:srgbClr val="648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355080" y="4160520"/>
            <a:ext cx="365760" cy="365760"/>
          </a:xfrm>
          <a:prstGeom prst="ellipse">
            <a:avLst/>
          </a:prstGeom>
          <a:solidFill>
            <a:srgbClr val="648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55080" y="417880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41605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648CB4"/>
                </a:solidFill>
                <a:latin typeface="Calibri"/>
              </a:defRPr>
            </a:pPr>
            <a:r>
              <a:t>Staff Overload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466344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82828C"/>
                </a:solidFill>
                <a:latin typeface="Calibri"/>
              </a:defRPr>
            </a:pPr>
            <a:r>
              <a:t>Reception spends 60% of time</a:t>
            </a:r>
            <a:br/>
            <a:r>
              <a:t>on phone calls, confirmations,</a:t>
            </a:r>
            <a:br/>
            <a:r>
              <a:t>and scheduling. Zero time</a:t>
            </a:r>
            <a:br/>
            <a:r>
              <a:t>for patient care.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0" y="4023360"/>
            <a:ext cx="2743200" cy="2194560"/>
          </a:xfrm>
          <a:prstGeom prst="round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144000" y="4023360"/>
            <a:ext cx="73152" cy="2194560"/>
          </a:xfrm>
          <a:prstGeom prst="rect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281160" y="4160520"/>
            <a:ext cx="365760" cy="365760"/>
          </a:xfrm>
          <a:prstGeom prst="ellipse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81160" y="417880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8360" y="41605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82828C"/>
                </a:solidFill>
                <a:latin typeface="Calibri"/>
              </a:defRPr>
            </a:pPr>
            <a:r>
              <a:t>Zero Intelligence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81160" y="4663440"/>
            <a:ext cx="24688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82828C"/>
                </a:solidFill>
                <a:latin typeface="Calibri"/>
              </a:defRPr>
            </a:pPr>
            <a:r>
              <a:t>No patient analytics. No</a:t>
            </a:r>
            <a:br/>
            <a:r>
              <a:t>predictive insights. No</a:t>
            </a:r>
            <a:br/>
            <a:r>
              <a:t>automated follow-ups.</a:t>
            </a:r>
            <a:br/>
            <a:r>
              <a:t>Clinics run blind.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86471" y="6286500"/>
            <a:ext cx="11153170" cy="214884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D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17535" y="6254496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DC3C3C"/>
                </a:solidFill>
                <a:latin typeface="Calibri"/>
              </a:defRPr>
            </a:pPr>
            <a:r>
              <a:rPr dirty="0"/>
              <a:t>Impact: Indian clinics lose Rs. 5-10 Lakh per doctor per year to operational inefficiency. 10 Lakh+ clinics = Rs. 50,000 Cr+ addressable market.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CatchQ replaces 7 disconnected tools with one unified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3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895" y="1286346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64772"/>
                </a:solidFill>
                <a:latin typeface="Calibri"/>
              </a:defRPr>
            </a:pPr>
            <a:r>
              <a:t>CLINIC SIDE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8895" y="1652106"/>
            <a:ext cx="1371600" cy="36576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8895" y="1834986"/>
            <a:ext cx="5029200" cy="45720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8895" y="1834986"/>
            <a:ext cx="54864" cy="45720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1775" y="1880706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WhatsApp Booking Bot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8895" y="2365338"/>
            <a:ext cx="5029200" cy="45720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8895" y="2365338"/>
            <a:ext cx="54864" cy="45720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775" y="241105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8895" y="2895690"/>
            <a:ext cx="5029200" cy="45720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8895" y="2895690"/>
            <a:ext cx="54864" cy="45720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1775" y="294141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Real-time Queue 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8895" y="3426042"/>
            <a:ext cx="5029200" cy="45720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8895" y="3426042"/>
            <a:ext cx="54864" cy="45720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775" y="3471762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Smart TV Display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8895" y="3956394"/>
            <a:ext cx="5029200" cy="45720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8895" y="3956394"/>
            <a:ext cx="54864" cy="45720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1775" y="4002114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Digital Billing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895" y="4486746"/>
            <a:ext cx="5029200" cy="45720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78895" y="4486746"/>
            <a:ext cx="54864" cy="45720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1775" y="4532466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Doctor Scheduling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8895" y="5017098"/>
            <a:ext cx="5029200" cy="45720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8895" y="5017098"/>
            <a:ext cx="54864" cy="45720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1775" y="5062818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Patient 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9615" y="1286346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BA8D"/>
                </a:solidFill>
                <a:latin typeface="Calibri"/>
              </a:defRPr>
            </a:pPr>
            <a:r>
              <a:t>PATIENT SIDE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39615" y="1652106"/>
            <a:ext cx="1371600" cy="36576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239615" y="1834986"/>
            <a:ext cx="530352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39615" y="1834986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22495" y="1880706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BA8D"/>
                </a:solidFill>
                <a:latin typeface="Calibri"/>
              </a:defRPr>
            </a:pPr>
            <a:r>
              <a:t>WhatsApp Booking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9615" y="2365338"/>
            <a:ext cx="530352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39615" y="2365338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22495" y="2411058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BA8D"/>
                </a:solidFill>
                <a:latin typeface="Calibri"/>
              </a:defRPr>
            </a:pPr>
            <a:r>
              <a:t>Mobile App (iOS/Android)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39615" y="2895690"/>
            <a:ext cx="530352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39615" y="2895690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22495" y="294141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BA8D"/>
                </a:solidFill>
                <a:latin typeface="Calibri"/>
              </a:defRPr>
            </a:pPr>
            <a:r>
              <a:t>Real-time Queue Position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39615" y="3426042"/>
            <a:ext cx="530352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239615" y="3426042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22495" y="3471762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BA8D"/>
                </a:solidFill>
                <a:latin typeface="Calibri"/>
              </a:defRPr>
            </a:pPr>
            <a:r>
              <a:t>Digital Receipt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9615" y="3956394"/>
            <a:ext cx="530352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239615" y="3956394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22495" y="4002114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BA8D"/>
                </a:solidFill>
                <a:latin typeface="Calibri"/>
              </a:defRPr>
            </a:pPr>
            <a:r>
              <a:t>Lab Report AI Analysis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39615" y="4486746"/>
            <a:ext cx="530352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39615" y="4486746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22495" y="4532466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BA8D"/>
                </a:solidFill>
                <a:latin typeface="Calibri"/>
              </a:defRPr>
            </a:pPr>
            <a:r>
              <a:t>Follow-up Reminders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943600"/>
            <a:ext cx="11430000" cy="36576"/>
          </a:xfrm>
          <a:prstGeom prst="rect">
            <a:avLst/>
          </a:prstGeom>
          <a:solidFill>
            <a:srgbClr val="E6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60350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82828C"/>
                </a:solidFill>
                <a:latin typeface="Calibri"/>
              </a:defRPr>
            </a:pPr>
            <a:r>
              <a:t>STACK: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71600" y="5989320"/>
            <a:ext cx="1371600" cy="320040"/>
          </a:xfrm>
          <a:prstGeom prst="roundRect">
            <a:avLst/>
          </a:prstGeom>
          <a:solidFill>
            <a:srgbClr val="F5F5FA"/>
          </a:solidFill>
          <a:ln w="1270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417320" y="6016752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0">
                <a:solidFill>
                  <a:srgbClr val="82828C"/>
                </a:solidFill>
                <a:latin typeface="Calibri"/>
              </a:defRPr>
            </a:pPr>
            <a:r>
              <a:t>Next.js 15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834640" y="5989320"/>
            <a:ext cx="932688" cy="320040"/>
          </a:xfrm>
          <a:prstGeom prst="roundRect">
            <a:avLst/>
          </a:prstGeom>
          <a:solidFill>
            <a:srgbClr val="F5F5FA"/>
          </a:solidFill>
          <a:ln w="1270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880360" y="6016752"/>
            <a:ext cx="8412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0">
                <a:solidFill>
                  <a:srgbClr val="82828C"/>
                </a:solidFill>
                <a:latin typeface="Calibri"/>
              </a:defRPr>
            </a:pPr>
            <a:r>
              <a:t>NestJS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858768" y="5989320"/>
            <a:ext cx="1591056" cy="320040"/>
          </a:xfrm>
          <a:prstGeom prst="roundRect">
            <a:avLst/>
          </a:prstGeom>
          <a:solidFill>
            <a:srgbClr val="F5F5FA"/>
          </a:solidFill>
          <a:ln w="1270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904488" y="6016752"/>
            <a:ext cx="149961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0">
                <a:solidFill>
                  <a:srgbClr val="82828C"/>
                </a:solidFill>
                <a:latin typeface="Calibri"/>
              </a:defRPr>
            </a:pPr>
            <a:r>
              <a:t>React Native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541264" y="5989320"/>
            <a:ext cx="1152144" cy="320040"/>
          </a:xfrm>
          <a:prstGeom prst="roundRect">
            <a:avLst/>
          </a:prstGeom>
          <a:solidFill>
            <a:srgbClr val="F5F5FA"/>
          </a:solidFill>
          <a:ln w="1270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586984" y="6016752"/>
            <a:ext cx="1060704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0">
                <a:solidFill>
                  <a:srgbClr val="82828C"/>
                </a:solidFill>
                <a:latin typeface="Calibri"/>
              </a:defRPr>
            </a:pPr>
            <a:r>
              <a:t>Firebase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784848" y="5989320"/>
            <a:ext cx="1261872" cy="320040"/>
          </a:xfrm>
          <a:prstGeom prst="roundRect">
            <a:avLst/>
          </a:prstGeom>
          <a:solidFill>
            <a:srgbClr val="F5F5FA"/>
          </a:solidFill>
          <a:ln w="1270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830568" y="6016752"/>
            <a:ext cx="11704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0">
                <a:solidFill>
                  <a:srgbClr val="82828C"/>
                </a:solidFill>
                <a:latin typeface="Calibri"/>
              </a:defRPr>
            </a:pPr>
            <a:r>
              <a:t>Socket.io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138160" y="5989320"/>
            <a:ext cx="1371600" cy="320040"/>
          </a:xfrm>
          <a:prstGeom prst="roundRect">
            <a:avLst/>
          </a:prstGeom>
          <a:solidFill>
            <a:srgbClr val="F5F5FA"/>
          </a:solidFill>
          <a:ln w="1270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183880" y="6016752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0">
                <a:solidFill>
                  <a:srgbClr val="82828C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01200" y="5989320"/>
            <a:ext cx="1152144" cy="320040"/>
          </a:xfrm>
          <a:prstGeom prst="roundRect">
            <a:avLst/>
          </a:prstGeom>
          <a:solidFill>
            <a:srgbClr val="F5F5FA"/>
          </a:solidFill>
          <a:ln w="1270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646920" y="6016752"/>
            <a:ext cx="1060704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50" b="0">
                <a:solidFill>
                  <a:srgbClr val="82828C"/>
                </a:solidFill>
                <a:latin typeface="Calibri"/>
              </a:defRPr>
            </a:pPr>
            <a:r>
              <a:t>Tailwind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23314" y="5567800"/>
            <a:ext cx="11430000" cy="320040"/>
          </a:xfrm>
          <a:prstGeom prst="roundRect">
            <a:avLst/>
          </a:prstGeom>
          <a:solidFill>
            <a:srgbClr val="F0F8F0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721608" y="560070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rPr dirty="0"/>
              <a:t>7 core problems, 1 unified solution. Every feature is already built and operational.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Platform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Full-stack system built for scale, security, and speed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4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3474720" cy="228600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PATIENT TOUCHPOINTS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74519"/>
            <a:ext cx="1097280" cy="27432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80" y="2011680"/>
            <a:ext cx="320040" cy="32004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03911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01168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WhatsApp 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21284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Book via chat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2423160"/>
            <a:ext cx="320040" cy="320040"/>
          </a:xfrm>
          <a:prstGeom prst="ellipse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45059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4231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62432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11 screens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2834640"/>
            <a:ext cx="320040" cy="320040"/>
          </a:xfrm>
          <a:prstGeom prst="ellipse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86207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83464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Web Booking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03580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Landing page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3246120"/>
            <a:ext cx="320040" cy="320040"/>
          </a:xfrm>
          <a:prstGeom prst="ellipse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27355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24612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Walk-in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44728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Clinic kiosk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1463040"/>
            <a:ext cx="3657600" cy="2286000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0" y="1554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BACKEND CORE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1874519"/>
            <a:ext cx="1097280" cy="27432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480560" y="2011680"/>
            <a:ext cx="320040" cy="320040"/>
          </a:xfrm>
          <a:prstGeom prst="ellipse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80560" y="203911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201168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NestJS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221284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6 modules</a:t>
            </a:r>
          </a:p>
        </p:txBody>
      </p:sp>
      <p:sp>
        <p:nvSpPr>
          <p:cNvPr id="35" name="Oval 34"/>
          <p:cNvSpPr/>
          <p:nvPr/>
        </p:nvSpPr>
        <p:spPr>
          <a:xfrm>
            <a:off x="4480560" y="2423160"/>
            <a:ext cx="320040" cy="32004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80560" y="245059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24231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Firebase Auth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262432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JWT + OTP</a:t>
            </a:r>
          </a:p>
        </p:txBody>
      </p:sp>
      <p:sp>
        <p:nvSpPr>
          <p:cNvPr id="39" name="Oval 38"/>
          <p:cNvSpPr/>
          <p:nvPr/>
        </p:nvSpPr>
        <p:spPr>
          <a:xfrm>
            <a:off x="4480560" y="2834640"/>
            <a:ext cx="320040" cy="320040"/>
          </a:xfrm>
          <a:prstGeom prst="ellipse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80560" y="286207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2040" y="283464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Socket.io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2040" y="303580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43" name="Oval 42"/>
          <p:cNvSpPr/>
          <p:nvPr/>
        </p:nvSpPr>
        <p:spPr>
          <a:xfrm>
            <a:off x="4480560" y="3246120"/>
            <a:ext cx="320040" cy="320040"/>
          </a:xfrm>
          <a:prstGeom prst="ellipse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80560" y="327355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324612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2040" y="344728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7 tables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0" y="1463040"/>
            <a:ext cx="3474720" cy="2286000"/>
          </a:xfrm>
          <a:prstGeom prst="round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12480" y="1554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0" y="1874519"/>
            <a:ext cx="1097280" cy="27432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503920" y="2011680"/>
            <a:ext cx="320040" cy="32004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03920" y="203911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400" y="201168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Queue Management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5400" y="221284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Live updates</a:t>
            </a:r>
          </a:p>
        </p:txBody>
      </p:sp>
      <p:sp>
        <p:nvSpPr>
          <p:cNvPr id="54" name="Oval 53"/>
          <p:cNvSpPr/>
          <p:nvPr/>
        </p:nvSpPr>
        <p:spPr>
          <a:xfrm>
            <a:off x="8503920" y="2423160"/>
            <a:ext cx="320040" cy="320040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03920" y="245059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5400" y="24231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Billing Engine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15400" y="262432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Auto-invoice</a:t>
            </a:r>
          </a:p>
        </p:txBody>
      </p:sp>
      <p:sp>
        <p:nvSpPr>
          <p:cNvPr id="58" name="Oval 57"/>
          <p:cNvSpPr/>
          <p:nvPr/>
        </p:nvSpPr>
        <p:spPr>
          <a:xfrm>
            <a:off x="8503920" y="2834640"/>
            <a:ext cx="320040" cy="320040"/>
          </a:xfrm>
          <a:prstGeom prst="ellipse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503920" y="286207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400" y="283464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AI Analytics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15400" y="303580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Smart insights</a:t>
            </a:r>
          </a:p>
        </p:txBody>
      </p:sp>
      <p:sp>
        <p:nvSpPr>
          <p:cNvPr id="62" name="Oval 61"/>
          <p:cNvSpPr/>
          <p:nvPr/>
        </p:nvSpPr>
        <p:spPr>
          <a:xfrm>
            <a:off x="8503920" y="3246120"/>
            <a:ext cx="320040" cy="320040"/>
          </a:xfrm>
          <a:prstGeom prst="ellipse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503920" y="3273552"/>
            <a:ext cx="320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15400" y="324612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Bed Tracking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15400" y="3447288"/>
            <a:ext cx="2286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39319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4206240"/>
            <a:ext cx="1097280" cy="274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457200" y="4389120"/>
            <a:ext cx="1463040" cy="347472"/>
          </a:xfrm>
          <a:prstGeom prst="round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2920" y="4416552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Next.js 15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011680" y="4389120"/>
            <a:ext cx="1024128" cy="347472"/>
          </a:xfrm>
          <a:prstGeom prst="round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057400" y="4416552"/>
            <a:ext cx="932688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NestJS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127248" y="4389120"/>
            <a:ext cx="1682495" cy="347472"/>
          </a:xfrm>
          <a:prstGeom prst="round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172968" y="4416552"/>
            <a:ext cx="1591055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React Native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901183" y="4389120"/>
            <a:ext cx="1243584" cy="347472"/>
          </a:xfrm>
          <a:prstGeom prst="round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946903" y="4416552"/>
            <a:ext cx="1152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Firebase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236207" y="4389120"/>
            <a:ext cx="1353312" cy="347472"/>
          </a:xfrm>
          <a:prstGeom prst="round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281927" y="4416552"/>
            <a:ext cx="126187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Socket.io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680959" y="4389120"/>
            <a:ext cx="1463040" cy="347472"/>
          </a:xfrm>
          <a:prstGeom prst="round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726679" y="4416552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235439" y="4389120"/>
            <a:ext cx="1243584" cy="347472"/>
          </a:xfrm>
          <a:prstGeom prst="round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281159" y="4416552"/>
            <a:ext cx="1152144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Tailwind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570463" y="4389120"/>
            <a:ext cx="1463040" cy="347472"/>
          </a:xfrm>
          <a:prstGeom prst="round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616183" y="4416552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235438" y="4873752"/>
            <a:ext cx="1243585" cy="347472"/>
          </a:xfrm>
          <a:prstGeom prst="round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281159" y="4915662"/>
            <a:ext cx="126187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Python AI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570463" y="4884801"/>
            <a:ext cx="1463040" cy="347472"/>
          </a:xfrm>
          <a:prstGeom prst="round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515218" y="4930140"/>
            <a:ext cx="1591055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/>
              <a:t>WhatsApp API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7200" y="49377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PLATFORM SCALE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5212080"/>
            <a:ext cx="1097280" cy="274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457200" y="5394960"/>
            <a:ext cx="1828800" cy="59436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57200" y="541324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64772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57150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377440" y="5394960"/>
            <a:ext cx="1828800" cy="59436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377440" y="541324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BBA8D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377440" y="57150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Frontend Pages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297680" y="5394960"/>
            <a:ext cx="1828800" cy="59436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297680" y="541324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E6A01E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97680" y="57150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Mobile Screens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217920" y="5394960"/>
            <a:ext cx="1828800" cy="59436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217920" y="541324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8C3CB4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217920" y="57150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Database Tables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138160" y="5394960"/>
            <a:ext cx="1828800" cy="59436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138160" y="541324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3C82B4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138160" y="57150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Landing Parts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058400" y="5394960"/>
            <a:ext cx="1828800" cy="59436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0058400" y="541324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DC3C3C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058400" y="57150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Backend Modules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8-step patient journey from booking to pharmacy refill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5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2651760" cy="2194560"/>
          </a:xfrm>
          <a:prstGeom prst="round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2468880" cy="2286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57276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9:41</a:t>
            </a:r>
          </a:p>
        </p:txBody>
      </p:sp>
      <p:sp>
        <p:nvSpPr>
          <p:cNvPr id="13" name="Oval 12"/>
          <p:cNvSpPr/>
          <p:nvPr/>
        </p:nvSpPr>
        <p:spPr>
          <a:xfrm>
            <a:off x="1188720" y="1920240"/>
            <a:ext cx="640080" cy="64008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196596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BBA8D"/>
                </a:solidFill>
                <a:latin typeface="Calibri"/>
              </a:defRPr>
            </a:pPr>
            <a:r>
              <a:t>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97180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Patient sends WhatsApp or opens mobile app. AI suggests right doctor based on symptoms.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1463040"/>
            <a:ext cx="2651760" cy="2194560"/>
          </a:xfrm>
          <a:prstGeom prst="round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83280" y="155448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383280" y="1554480"/>
            <a:ext cx="2468880" cy="22860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157276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9:41</a:t>
            </a:r>
          </a:p>
        </p:txBody>
      </p:sp>
      <p:sp>
        <p:nvSpPr>
          <p:cNvPr id="21" name="Oval 20"/>
          <p:cNvSpPr/>
          <p:nvPr/>
        </p:nvSpPr>
        <p:spPr>
          <a:xfrm>
            <a:off x="4114800" y="1920240"/>
            <a:ext cx="640080" cy="640080"/>
          </a:xfrm>
          <a:prstGeom prst="ellipse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0" y="196596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65176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64772"/>
                </a:solidFill>
                <a:latin typeface="Calibri"/>
              </a:defRPr>
            </a:pPr>
            <a:r>
              <a:t>CONFIRM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97180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Instant booking confirmation. Calendar sync. Pre-visit questionnaire if needed.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463040"/>
            <a:ext cx="2651760" cy="2194560"/>
          </a:xfrm>
          <a:prstGeom prst="round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155448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1554480"/>
            <a:ext cx="2468880" cy="228600"/>
          </a:xfrm>
          <a:prstGeom prst="rect">
            <a:avLst/>
          </a:prstGeom>
          <a:solidFill>
            <a:srgbClr val="1B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157276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9:41</a:t>
            </a:r>
          </a:p>
        </p:txBody>
      </p:sp>
      <p:sp>
        <p:nvSpPr>
          <p:cNvPr id="29" name="Oval 28"/>
          <p:cNvSpPr/>
          <p:nvPr/>
        </p:nvSpPr>
        <p:spPr>
          <a:xfrm>
            <a:off x="7040880" y="1920240"/>
            <a:ext cx="640080" cy="640080"/>
          </a:xfrm>
          <a:prstGeom prst="ellipse">
            <a:avLst/>
          </a:prstGeom>
          <a:solidFill>
            <a:srgbClr val="1B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0880" y="196596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65176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B785A"/>
                </a:solidFill>
                <a:latin typeface="Calibri"/>
              </a:defRPr>
            </a:pPr>
            <a:r>
              <a:t>TRACK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97180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Real-time queue position on phone. "You are #3. Est. wait: 15 minutes."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1463040"/>
            <a:ext cx="2651760" cy="2194560"/>
          </a:xfrm>
          <a:prstGeom prst="round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235440" y="1554480"/>
            <a:ext cx="246888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235440" y="1554480"/>
            <a:ext cx="2468880" cy="22860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6880" y="157276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9:41</a:t>
            </a:r>
          </a:p>
        </p:txBody>
      </p:sp>
      <p:sp>
        <p:nvSpPr>
          <p:cNvPr id="37" name="Oval 36"/>
          <p:cNvSpPr/>
          <p:nvPr/>
        </p:nvSpPr>
        <p:spPr>
          <a:xfrm>
            <a:off x="9966960" y="1920240"/>
            <a:ext cx="640080" cy="640080"/>
          </a:xfrm>
          <a:prstGeom prst="ellipse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966960" y="196596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265176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E6A01E"/>
                </a:solidFill>
                <a:latin typeface="Calibri"/>
              </a:defRPr>
            </a:pPr>
            <a:r>
              <a:t>VISIT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297180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Smart queue display at clinic. Doctor sees live patient list. No paper, no chaos.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4023360"/>
            <a:ext cx="2651760" cy="2194560"/>
          </a:xfrm>
          <a:prstGeom prst="round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4114800"/>
            <a:ext cx="2468880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57200" y="4114800"/>
            <a:ext cx="2468880" cy="228600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413308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9:41</a:t>
            </a:r>
          </a:p>
        </p:txBody>
      </p:sp>
      <p:sp>
        <p:nvSpPr>
          <p:cNvPr id="45" name="Oval 44"/>
          <p:cNvSpPr/>
          <p:nvPr/>
        </p:nvSpPr>
        <p:spPr>
          <a:xfrm>
            <a:off x="1188720" y="4480560"/>
            <a:ext cx="640080" cy="640080"/>
          </a:xfrm>
          <a:prstGeom prst="ellipse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88720" y="452628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2120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8C3CB4"/>
                </a:solidFill>
                <a:latin typeface="Calibri"/>
              </a:defRPr>
            </a:pPr>
            <a:r>
              <a:t>PAY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53212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Digital receipt via WhatsApp. Payment tracked: UPI/Card/Cash. Auto-billing.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91840" y="4023360"/>
            <a:ext cx="2651760" cy="2194560"/>
          </a:xfrm>
          <a:prstGeom prst="round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383280" y="4114800"/>
            <a:ext cx="2468880" cy="19568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383280" y="4114800"/>
            <a:ext cx="2468880" cy="228600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474720" y="413308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9:41</a:t>
            </a:r>
          </a:p>
        </p:txBody>
      </p:sp>
      <p:sp>
        <p:nvSpPr>
          <p:cNvPr id="53" name="Oval 52"/>
          <p:cNvSpPr/>
          <p:nvPr/>
        </p:nvSpPr>
        <p:spPr>
          <a:xfrm>
            <a:off x="4114800" y="4480560"/>
            <a:ext cx="640080" cy="640080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114800" y="452628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83280" y="52120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DC3C3C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0" y="553212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AI reads lab report. Explains in simple language. Flags abnormal values.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17920" y="4023360"/>
            <a:ext cx="2651760" cy="2194560"/>
          </a:xfrm>
          <a:prstGeom prst="round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309360" y="4114800"/>
            <a:ext cx="2468880" cy="1892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309360" y="4114800"/>
            <a:ext cx="2468880" cy="228600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00800" y="413308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9:41</a:t>
            </a:r>
          </a:p>
        </p:txBody>
      </p:sp>
      <p:sp>
        <p:nvSpPr>
          <p:cNvPr id="61" name="Oval 60"/>
          <p:cNvSpPr/>
          <p:nvPr/>
        </p:nvSpPr>
        <p:spPr>
          <a:xfrm>
            <a:off x="7040880" y="4480560"/>
            <a:ext cx="640080" cy="640080"/>
          </a:xfrm>
          <a:prstGeom prst="ellipse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040880" y="452628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0" y="52120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C82B4"/>
                </a:solidFill>
                <a:latin typeface="Calibri"/>
              </a:defRPr>
            </a:pPr>
            <a:r>
              <a:t>FOLLOW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553212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Automated follow-up reminder. Next appointment auto-suggested.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144000" y="4023360"/>
            <a:ext cx="2651760" cy="2194560"/>
          </a:xfrm>
          <a:prstGeom prst="round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235440" y="4114800"/>
            <a:ext cx="246888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235440" y="4114800"/>
            <a:ext cx="2468880" cy="2286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326880" y="4133088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9:41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4480560"/>
            <a:ext cx="640080" cy="640080"/>
          </a:xfrm>
          <a:prstGeom prst="ellipse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966960" y="452628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35440" y="52120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643C8C"/>
                </a:solidFill>
                <a:latin typeface="Calibri"/>
              </a:defRPr>
            </a:pPr>
            <a:r>
              <a:t>REFILL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26880" y="553212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Pharmacy alert when meds run low. Family notified. Auto-order option.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126480"/>
            <a:ext cx="12191695" cy="36576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64772"/>
                </a:solidFill>
                <a:latin typeface="Calibri"/>
              </a:defRPr>
            </a:pPr>
            <a:r>
              <a:t>PATIENT JOURNEY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2828C"/>
                </a:solidFill>
                <a:latin typeface="Calibri"/>
              </a:defRPr>
            </a:pPr>
            <a:r>
              <a:t>Every touchpoint is digital, real-time, and designed for zero friction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Dashboard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Complete clinic management system - 8 modules, already built and operational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6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27432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2743200" cy="13716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2920" y="1737360"/>
            <a:ext cx="457200" cy="457200"/>
          </a:xfrm>
          <a:prstGeom prst="ellipse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76479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7373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1737360"/>
            <a:ext cx="822960" cy="274320"/>
          </a:xfrm>
          <a:prstGeom prst="round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03120" y="1755648"/>
            <a:ext cx="8229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6 KPIs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286000"/>
            <a:ext cx="2468880" cy="18288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377440"/>
            <a:ext cx="2468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2828C"/>
                </a:solidFill>
                <a:latin typeface="Calibri"/>
              </a:defRPr>
            </a:pPr>
            <a:r>
              <a:t>Real-time stats: Patients Today,</a:t>
            </a:r>
            <a:br/>
            <a:r>
              <a:t>Appointments, Queue, Performance.</a:t>
            </a:r>
            <a:br/>
            <a:r>
              <a:t>7-day trend charts. Quick 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1463040"/>
            <a:ext cx="27432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1463040"/>
            <a:ext cx="2743200" cy="13716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429000" y="1737360"/>
            <a:ext cx="457200" cy="45720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0" y="176479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17373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QUEUE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1737360"/>
            <a:ext cx="1097280" cy="274320"/>
          </a:xfrm>
          <a:prstGeom prst="round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0" y="1755648"/>
            <a:ext cx="10972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2286000"/>
            <a:ext cx="2468880" cy="18288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29000" y="2377440"/>
            <a:ext cx="2468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2828C"/>
                </a:solidFill>
                <a:latin typeface="Calibri"/>
              </a:defRPr>
            </a:pPr>
            <a:r>
              <a:t>Per-doctor live queue. Status:</a:t>
            </a:r>
            <a:br/>
            <a:r>
              <a:t>waiting/serving/completed/skipped.</a:t>
            </a:r>
            <a:br/>
            <a:r>
              <a:t>Socket.io real-time updates.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463040"/>
            <a:ext cx="27432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1463040"/>
            <a:ext cx="2743200" cy="137160"/>
          </a:xfrm>
          <a:prstGeom prst="rect">
            <a:avLst/>
          </a:prstGeom>
          <a:solidFill>
            <a:srgbClr val="1B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355080" y="1737360"/>
            <a:ext cx="457200" cy="457200"/>
          </a:xfrm>
          <a:prstGeom prst="ellipse">
            <a:avLst/>
          </a:prstGeom>
          <a:solidFill>
            <a:srgbClr val="1B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176479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17373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DOCTORS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0" y="1737360"/>
            <a:ext cx="1097280" cy="274320"/>
          </a:xfrm>
          <a:prstGeom prst="roundRect">
            <a:avLst/>
          </a:prstGeom>
          <a:solidFill>
            <a:srgbClr val="1B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80960" y="1755648"/>
            <a:ext cx="10972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15+ Specs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2286000"/>
            <a:ext cx="2468880" cy="18288"/>
          </a:xfrm>
          <a:prstGeom prst="rect">
            <a:avLst/>
          </a:prstGeom>
          <a:solidFill>
            <a:srgbClr val="1B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2377440"/>
            <a:ext cx="2468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2828C"/>
                </a:solidFill>
                <a:latin typeface="Calibri"/>
              </a:defRPr>
            </a:pPr>
            <a:r>
              <a:t>CRUD for 15+ specialties.</a:t>
            </a:r>
            <a:br/>
            <a:r>
              <a:t>Weekly scheduling. Fees config.</a:t>
            </a:r>
            <a:br/>
            <a:r>
              <a:t>Availability windows per slot.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1463040"/>
            <a:ext cx="27432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144000" y="1463040"/>
            <a:ext cx="2743200" cy="13716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281160" y="1737360"/>
            <a:ext cx="457200" cy="457200"/>
          </a:xfrm>
          <a:prstGeom prst="ellipse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81160" y="176479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17373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APPOINTMENTS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72800" y="1737360"/>
            <a:ext cx="731520" cy="274320"/>
          </a:xfrm>
          <a:prstGeom prst="round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789920" y="1755648"/>
            <a:ext cx="10972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Full CRUD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81160" y="2286000"/>
            <a:ext cx="2468880" cy="18288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81160" y="2377440"/>
            <a:ext cx="2468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2828C"/>
                </a:solidFill>
                <a:latin typeface="Calibri"/>
              </a:defRPr>
            </a:pPr>
            <a:r>
              <a:t>Full lifecycle: book, reschedule,</a:t>
            </a:r>
            <a:br/>
            <a:r>
              <a:t>cancel. Filter by doctor/date/status.</a:t>
            </a:r>
            <a:br/>
            <a:r>
              <a:t>Patient phone search.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4023360"/>
            <a:ext cx="27432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65760" y="4023360"/>
            <a:ext cx="2743200" cy="137160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502920" y="4297680"/>
            <a:ext cx="457200" cy="457200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432511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429768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BILLING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11680" y="4297680"/>
            <a:ext cx="914400" cy="274320"/>
          </a:xfrm>
          <a:prstGeom prst="round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011680" y="4315968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3 Modes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4846320"/>
            <a:ext cx="2468880" cy="18288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920" y="4937760"/>
            <a:ext cx="2468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2828C"/>
                </a:solidFill>
                <a:latin typeface="Calibri"/>
              </a:defRPr>
            </a:pPr>
            <a:r>
              <a:t>Invoice generation. Print receipts.</a:t>
            </a:r>
            <a:br/>
            <a:r>
              <a:t>Payment mode tracking: Cash/UPI/</a:t>
            </a:r>
            <a:br/>
            <a:r>
              <a:t>Card. Discount management.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91840" y="4023360"/>
            <a:ext cx="27432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291840" y="4023360"/>
            <a:ext cx="2743200" cy="137160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3429000" y="4297680"/>
            <a:ext cx="457200" cy="457200"/>
          </a:xfrm>
          <a:prstGeom prst="ellipse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429000" y="432511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31920" y="429768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FOLLOW-UPS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892040" y="4297680"/>
            <a:ext cx="960120" cy="274320"/>
          </a:xfrm>
          <a:prstGeom prst="round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892040" y="4315968"/>
            <a:ext cx="9601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Automated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29000" y="4846320"/>
            <a:ext cx="2468880" cy="18288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429000" y="4937760"/>
            <a:ext cx="2468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2828C"/>
                </a:solidFill>
                <a:latin typeface="Calibri"/>
              </a:defRPr>
            </a:pPr>
            <a:r>
              <a:t>Cron-based daily reminders.</a:t>
            </a:r>
            <a:br/>
            <a:r>
              <a:t>Patient retention workflows.</a:t>
            </a:r>
            <a:br/>
            <a:r>
              <a:t>Family member booking support.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17920" y="4023360"/>
            <a:ext cx="27432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217920" y="4023360"/>
            <a:ext cx="2743200" cy="137160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6355080" y="4297680"/>
            <a:ext cx="457200" cy="457200"/>
          </a:xfrm>
          <a:prstGeom prst="ellipse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355080" y="432511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429768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PATIENT APP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863840" y="4297680"/>
            <a:ext cx="914400" cy="274320"/>
          </a:xfrm>
          <a:prstGeom prst="round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955280" y="4315968"/>
            <a:ext cx="8229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11 Screens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55080" y="4846320"/>
            <a:ext cx="2468880" cy="18288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355080" y="4937760"/>
            <a:ext cx="2468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2828C"/>
                </a:solidFill>
                <a:latin typeface="Calibri"/>
              </a:defRPr>
            </a:pPr>
            <a:r>
              <a:t>Phone OTP login. Browse doctors</a:t>
            </a:r>
            <a:br/>
            <a:r>
              <a:t>by specialty. Real-time queue.</a:t>
            </a:r>
            <a:br/>
            <a:r>
              <a:t>Appointment receipt on mobile.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144000" y="4023360"/>
            <a:ext cx="27432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4000" y="4023360"/>
            <a:ext cx="2743200" cy="137160"/>
          </a:xfrm>
          <a:prstGeom prst="rect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9281160" y="4297680"/>
            <a:ext cx="457200" cy="457200"/>
          </a:xfrm>
          <a:prstGeom prst="ellipse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281160" y="432511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84080" y="429768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LANDING PAGE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927080" y="4297680"/>
            <a:ext cx="777240" cy="274320"/>
          </a:xfrm>
          <a:prstGeom prst="roundRect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972800" y="4325112"/>
            <a:ext cx="10058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22 Parts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281160" y="4846320"/>
            <a:ext cx="2468880" cy="18288"/>
          </a:xfrm>
          <a:prstGeom prst="rect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281160" y="4937760"/>
            <a:ext cx="2468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2828C"/>
                </a:solidFill>
                <a:latin typeface="Calibri"/>
              </a:defRPr>
            </a:pPr>
            <a:r>
              <a:t>22 marketing components. Pricing</a:t>
            </a:r>
            <a:br/>
            <a:r>
              <a:t>tiers. Feature showcase. WhatsApp</a:t>
            </a:r>
            <a:br/>
            <a:r>
              <a:t>widget. App download links.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Queue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Real-time queue with live sync between Web App and Android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1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63040"/>
            <a:ext cx="5669280" cy="475488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RECEPTIONIST WEB APP (CatchQ Dashboard)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103120"/>
            <a:ext cx="53035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103120"/>
            <a:ext cx="5303520" cy="274320"/>
          </a:xfrm>
          <a:prstGeom prst="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1214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CatchQ Dashboard - Queue Management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560320"/>
            <a:ext cx="4937760" cy="32004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25786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5786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Patient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5786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Doctor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5786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5786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94436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29443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Rahul Sharma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29443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Dr. Patel (Cardio)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29443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10:00 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94436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BBA8D"/>
                </a:solidFill>
                <a:latin typeface="Calibri"/>
              </a:defRPr>
            </a:pPr>
            <a:r>
              <a:t>COMPLETED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24612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2461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Priya Singh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2461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Dr. Patel (Cardio)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32461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10:15 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2461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BBA8D"/>
                </a:solidFill>
                <a:latin typeface="Calibri"/>
              </a:defRPr>
            </a:pPr>
            <a:r>
              <a:t>COMPLETED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54787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54787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Amit Kumar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354787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Dr. Patel (Cardio)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35478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10:30 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35478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6A01E"/>
                </a:solidFill>
                <a:latin typeface="Calibri"/>
              </a:defRPr>
            </a:pPr>
            <a:r>
              <a:t>SERVING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38496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38496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Sneha Reddy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38496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Dr. Patel (Cardio)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38496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10:45 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38496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C82B4"/>
                </a:solidFill>
                <a:latin typeface="Calibri"/>
              </a:defRPr>
            </a:pPr>
            <a:r>
              <a:t>WAITING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15137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41513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Vikram Joshi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41513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Dr. Patel (Cardio)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20" y="41513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11:00 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1513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C82B4"/>
                </a:solidFill>
                <a:latin typeface="Calibri"/>
              </a:defRPr>
            </a:pPr>
            <a:r>
              <a:t>WAITING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45312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44531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Neha Gupta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60320" y="44531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Dr. Patel (Cardio)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31920" y="44531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11:15 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44531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C82B4"/>
                </a:solidFill>
                <a:latin typeface="Calibri"/>
              </a:defRPr>
            </a:pPr>
            <a:r>
              <a:t>WAITING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4736592"/>
            <a:ext cx="4937760" cy="292608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1520" y="4736592"/>
            <a:ext cx="4937760" cy="18288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1520" y="475488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8720" y="4754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Rajesh Verma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60320" y="4754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Dr. Patel (Cardio)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4754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11:30 AM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37760" y="4754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DC3C3C"/>
                </a:solidFill>
                <a:latin typeface="Calibri"/>
              </a:defRPr>
            </a:pPr>
            <a:r>
              <a:t>SKIPPED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505663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88720" y="505663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Kavita Nair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60320" y="505663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Dr. Patel (Cardio)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31920" y="50566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11:45 AM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37760" y="50566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C82B4"/>
                </a:solidFill>
                <a:latin typeface="Calibri"/>
              </a:defRPr>
            </a:pPr>
            <a:r>
              <a:t>WAITING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535838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88720" y="53583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Sanjay Mehta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60320" y="53583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Dr. Patel (Cardio)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31920" y="53583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12:00 PM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37760" y="53583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C82B4"/>
                </a:solidFill>
                <a:latin typeface="Calibri"/>
              </a:defRPr>
            </a:pPr>
            <a:r>
              <a:t>WAITING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56601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88720" y="56601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Pooja Desai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560320" y="56601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Dr. Patel (Cardio)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31920" y="56601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82832"/>
                </a:solidFill>
                <a:latin typeface="Calibri"/>
              </a:defRPr>
            </a:pPr>
            <a:r>
              <a:t>12:15 PM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37760" y="56601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3C82B4"/>
                </a:solidFill>
                <a:latin typeface="Calibri"/>
              </a:defRPr>
            </a:pPr>
            <a:r>
              <a:t>WAITING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410376" y="5992278"/>
            <a:ext cx="1058503" cy="239358"/>
          </a:xfrm>
          <a:prstGeom prst="round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463040" y="600303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NEXT PATIENT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510444" y="5971031"/>
            <a:ext cx="861737" cy="244199"/>
          </a:xfrm>
          <a:prstGeom prst="round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257654" y="6003035"/>
            <a:ext cx="12170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SKIP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557848" y="6003035"/>
            <a:ext cx="831273" cy="212195"/>
          </a:xfrm>
          <a:prstGeom prst="round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474720" y="6016931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PAUSE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309360" y="1463040"/>
            <a:ext cx="5577840" cy="475488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6309360" y="1463040"/>
            <a:ext cx="5577840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922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PATIENT ANDROID APP (CatchQ)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772400" y="2103120"/>
            <a:ext cx="2743200" cy="3931920"/>
          </a:xfrm>
          <a:prstGeom prst="roundRect">
            <a:avLst/>
          </a:prstGeom>
          <a:solidFill>
            <a:srgbClr val="1E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863840" y="2286000"/>
            <a:ext cx="25603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7863840" y="2286000"/>
            <a:ext cx="2560320" cy="18288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955279" y="2304288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FFFFFF"/>
                </a:solidFill>
                <a:latin typeface="Calibri"/>
              </a:defRPr>
            </a:pPr>
            <a:r>
              <a:t>9:41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55279" y="2606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64772"/>
                </a:solidFill>
                <a:latin typeface="Calibri"/>
              </a:defRPr>
            </a:pPr>
            <a:r>
              <a:t>YOUR QUEUE STATUS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46720" y="2926080"/>
            <a:ext cx="2194560" cy="274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8503920" y="3108960"/>
            <a:ext cx="1097280" cy="1097280"/>
          </a:xfrm>
          <a:prstGeom prst="ellipse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503920" y="32004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BA8D"/>
                </a:solidFill>
                <a:latin typeface="Calibri"/>
              </a:defRPr>
            </a:pPr>
            <a:r>
              <a:t>#4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955279" y="4297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82832"/>
                </a:solidFill>
                <a:latin typeface="Calibri"/>
              </a:defRPr>
            </a:pPr>
            <a:r>
              <a:t>Serving Now: #3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955279" y="4572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Total in Queue: 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55279" y="4846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6A01E"/>
                </a:solidFill>
                <a:latin typeface="Calibri"/>
              </a:defRPr>
            </a:pPr>
            <a:r>
              <a:t>Est. Wait: 15 min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92240" y="2560320"/>
            <a:ext cx="1188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583680" y="265176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82828C"/>
                </a:solidFill>
                <a:latin typeface="Calibri"/>
              </a:defRPr>
            </a:pPr>
            <a:r>
              <a:t>APPOINTMENT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83680" y="292608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82832"/>
                </a:solidFill>
                <a:latin typeface="Calibri"/>
              </a:defRPr>
            </a:pPr>
            <a:r>
              <a:t>Dr. Patel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83680" y="310896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2828C"/>
                </a:solidFill>
                <a:latin typeface="Calibri"/>
              </a:defRPr>
            </a:pPr>
            <a:r>
              <a:t>Cardiology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583680" y="338328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64772"/>
                </a:solidFill>
                <a:latin typeface="Calibri"/>
              </a:defRPr>
            </a:pPr>
            <a:r>
              <a:t>10:45 AM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583680" y="36576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1BBA8D"/>
                </a:solidFill>
                <a:latin typeface="Calibri"/>
              </a:defRPr>
            </a:pPr>
            <a:r>
              <a:t>Today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760720" y="3200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BA8D"/>
                </a:solidFill>
                <a:latin typeface="Calibri"/>
              </a:defRPr>
            </a:pPr>
            <a:r>
              <a:t>&gt;&gt;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760720" y="3840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BA8D"/>
                </a:solidFill>
                <a:latin typeface="Calibri"/>
              </a:defRPr>
            </a:pPr>
            <a:r>
              <a:t>&lt;&lt;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492240" y="5303520"/>
            <a:ext cx="5394960" cy="457200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E6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675120" y="53218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A01E"/>
                </a:solidFill>
                <a:latin typeface="Calibri"/>
              </a:defRPr>
            </a:pPr>
            <a:r>
              <a:t>REAL-TIME SYNC: Status changes on web app instantly reflect on patient app via Socket.io WebSocket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65760" y="6309360"/>
            <a:ext cx="11430000" cy="365760"/>
          </a:xfrm>
          <a:prstGeom prst="roundRect">
            <a:avLst/>
          </a:prstGeom>
          <a:solidFill>
            <a:srgbClr val="F0F8F0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4864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BA8D"/>
                </a:solidFill>
                <a:latin typeface="Calibri"/>
              </a:defRPr>
            </a:pPr>
            <a:r>
              <a:t>Flow: Patient books via App/Web -&gt; Receptionist sees in queue -&gt; Status updates in real-time -&gt; Patient sees live position on phone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Queue Status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Patient journey through the queue system with real-time status updates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2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463040"/>
            <a:ext cx="21945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2194560" cy="548640"/>
          </a:xfrm>
          <a:prstGeom prst="rect">
            <a:avLst/>
          </a:prstGeom>
          <a:solidFill>
            <a:srgbClr val="C8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1508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82832"/>
                </a:solidFill>
                <a:latin typeface="Calibri"/>
              </a:defRPr>
            </a:pPr>
            <a:r>
              <a:t>Patient arrives</a:t>
            </a:r>
            <a:br/>
            <a:r>
              <a:t>or books online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2743200"/>
            <a:ext cx="640080" cy="640080"/>
          </a:xfrm>
          <a:prstGeom prst="ellipse">
            <a:avLst/>
          </a:prstGeom>
          <a:solidFill>
            <a:srgbClr val="C8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2834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3832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2828C"/>
                </a:solidFill>
                <a:latin typeface="Calibri"/>
              </a:defRPr>
            </a:pPr>
            <a:r>
              <a:t>patients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6576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82828C"/>
                </a:solidFill>
                <a:latin typeface="Calibri"/>
              </a:defRPr>
            </a:pPr>
            <a:r>
              <a:t>Appointment created.</a:t>
            </a:r>
          </a:p>
          <a:p>
            <a:pPr algn="ctr">
              <a:spcAft>
                <a:spcPts val="400"/>
              </a:spcAft>
              <a:defRPr sz="800" b="0">
                <a:solidFill>
                  <a:srgbClr val="82828C"/>
                </a:solidFill>
                <a:latin typeface="Calibri"/>
              </a:defRPr>
            </a:pPr>
            <a:r>
              <a:t>Added to queue.</a:t>
            </a:r>
          </a:p>
          <a:p>
            <a:pPr algn="ctr">
              <a:spcAft>
                <a:spcPts val="400"/>
              </a:spcAft>
              <a:defRPr sz="800" b="0">
                <a:solidFill>
                  <a:srgbClr val="82828C"/>
                </a:solidFill>
                <a:latin typeface="Calibri"/>
              </a:defRPr>
            </a:pPr>
            <a:r>
              <a:t>Waiting for check-in.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2828C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1463040"/>
            <a:ext cx="21945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651760" y="1463040"/>
            <a:ext cx="2194560" cy="548640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51760" y="1508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WAITING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82832"/>
                </a:solidFill>
                <a:latin typeface="Calibri"/>
              </a:defRPr>
            </a:pPr>
            <a:r>
              <a:t>In queue.</a:t>
            </a:r>
            <a:br/>
            <a:r>
              <a:t>Position visible.</a:t>
            </a:r>
          </a:p>
        </p:txBody>
      </p:sp>
      <p:sp>
        <p:nvSpPr>
          <p:cNvPr id="23" name="Oval 22"/>
          <p:cNvSpPr/>
          <p:nvPr/>
        </p:nvSpPr>
        <p:spPr>
          <a:xfrm>
            <a:off x="3429000" y="2743200"/>
            <a:ext cx="640080" cy="640080"/>
          </a:xfrm>
          <a:prstGeom prst="ellipse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29000" y="2834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3832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2828C"/>
                </a:solidFill>
                <a:latin typeface="Calibri"/>
              </a:defRPr>
            </a:pPr>
            <a:r>
              <a:t>patients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6576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82828C"/>
                </a:solidFill>
                <a:latin typeface="Calibri"/>
              </a:defRPr>
            </a:pPr>
            <a:r>
              <a:t>Queue position #N.</a:t>
            </a:r>
          </a:p>
          <a:p>
            <a:pPr algn="ctr">
              <a:spcAft>
                <a:spcPts val="400"/>
              </a:spcAft>
              <a:defRPr sz="800" b="0">
                <a:solidFill>
                  <a:srgbClr val="82828C"/>
                </a:solidFill>
                <a:latin typeface="Calibri"/>
              </a:defRPr>
            </a:pPr>
            <a:r>
              <a:t>Estimated wait time.</a:t>
            </a:r>
          </a:p>
          <a:p>
            <a:pPr algn="ctr">
              <a:spcAft>
                <a:spcPts val="400"/>
              </a:spcAft>
              <a:defRPr sz="800" b="0">
                <a:solidFill>
                  <a:srgbClr val="82828C"/>
                </a:solidFill>
                <a:latin typeface="Calibri"/>
              </a:defRPr>
            </a:pPr>
            <a:r>
              <a:t>Real-time updates.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2828C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1463040"/>
            <a:ext cx="21945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29200" y="1463040"/>
            <a:ext cx="2194560" cy="54864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0" y="1508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SERVING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82832"/>
                </a:solidFill>
                <a:latin typeface="Calibri"/>
              </a:defRPr>
            </a:pPr>
            <a:r>
              <a:t>Doctor is</a:t>
            </a:r>
            <a:br/>
            <a:r>
              <a:t>seeing patient.</a:t>
            </a:r>
          </a:p>
        </p:txBody>
      </p:sp>
      <p:sp>
        <p:nvSpPr>
          <p:cNvPr id="32" name="Oval 31"/>
          <p:cNvSpPr/>
          <p:nvPr/>
        </p:nvSpPr>
        <p:spPr>
          <a:xfrm>
            <a:off x="5806440" y="2743200"/>
            <a:ext cx="640080" cy="640080"/>
          </a:xfrm>
          <a:prstGeom prst="ellipse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06440" y="2834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3832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2828C"/>
                </a:solidFill>
                <a:latin typeface="Calibri"/>
              </a:defRPr>
            </a:pPr>
            <a:r>
              <a:t>patients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36576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82828C"/>
                </a:solidFill>
                <a:latin typeface="Calibri"/>
              </a:defRPr>
            </a:pPr>
            <a:r>
              <a:t>Currently with doctor.</a:t>
            </a:r>
          </a:p>
          <a:p>
            <a:pPr algn="ctr">
              <a:spcAft>
                <a:spcPts val="400"/>
              </a:spcAft>
              <a:defRPr sz="800" b="0">
                <a:solidFill>
                  <a:srgbClr val="82828C"/>
                </a:solidFill>
                <a:latin typeface="Calibri"/>
              </a:defRPr>
            </a:pPr>
            <a:r>
              <a:t>Queue advances.</a:t>
            </a:r>
          </a:p>
          <a:p>
            <a:pPr algn="ctr">
              <a:spcAft>
                <a:spcPts val="400"/>
              </a:spcAft>
              <a:defRPr sz="800" b="0">
                <a:solidFill>
                  <a:srgbClr val="82828C"/>
                </a:solidFill>
                <a:latin typeface="Calibri"/>
              </a:defRPr>
            </a:pPr>
            <a:r>
              <a:t>Socket.io live.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2828C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06640" y="1463040"/>
            <a:ext cx="21945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406640" y="1463040"/>
            <a:ext cx="2194560" cy="54864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06640" y="1508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COMPLETED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82832"/>
                </a:solidFill>
                <a:latin typeface="Calibri"/>
              </a:defRPr>
            </a:pPr>
            <a:r>
              <a:t>Visit done.</a:t>
            </a:r>
            <a:br/>
            <a:r>
              <a:t>Patient leaves.</a:t>
            </a:r>
          </a:p>
        </p:txBody>
      </p:sp>
      <p:sp>
        <p:nvSpPr>
          <p:cNvPr id="41" name="Oval 40"/>
          <p:cNvSpPr/>
          <p:nvPr/>
        </p:nvSpPr>
        <p:spPr>
          <a:xfrm>
            <a:off x="8183880" y="2743200"/>
            <a:ext cx="640080" cy="64008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83880" y="2834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33832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2828C"/>
                </a:solidFill>
                <a:latin typeface="Calibri"/>
              </a:defRPr>
            </a:pPr>
            <a:r>
              <a:t>patients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0" y="36576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82828C"/>
                </a:solidFill>
                <a:latin typeface="Calibri"/>
              </a:defRPr>
            </a:pPr>
            <a:r>
              <a:t>Receipt generated.</a:t>
            </a:r>
          </a:p>
          <a:p>
            <a:pPr algn="ctr">
              <a:spcAft>
                <a:spcPts val="400"/>
              </a:spcAft>
              <a:defRPr sz="800" b="0">
                <a:solidFill>
                  <a:srgbClr val="82828C"/>
                </a:solidFill>
                <a:latin typeface="Calibri"/>
              </a:defRPr>
            </a:pPr>
            <a:r>
              <a:t>Follow-up scheduled.</a:t>
            </a:r>
          </a:p>
          <a:p>
            <a:pPr algn="ctr">
              <a:spcAft>
                <a:spcPts val="400"/>
              </a:spcAft>
              <a:defRPr sz="800" b="0">
                <a:solidFill>
                  <a:srgbClr val="82828C"/>
                </a:solidFill>
                <a:latin typeface="Calibri"/>
              </a:defRPr>
            </a:pPr>
            <a:r>
              <a:t>Queue slot freed.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2828C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84080" y="1463040"/>
            <a:ext cx="21945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784080" y="1463040"/>
            <a:ext cx="2194560" cy="548640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784080" y="1508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SKIPPED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82832"/>
                </a:solidFill>
                <a:latin typeface="Calibri"/>
              </a:defRPr>
            </a:pPr>
            <a:r>
              <a:t>Patient did</a:t>
            </a:r>
            <a:br/>
            <a:r>
              <a:t>not arrive.</a:t>
            </a:r>
          </a:p>
        </p:txBody>
      </p:sp>
      <p:sp>
        <p:nvSpPr>
          <p:cNvPr id="50" name="Oval 49"/>
          <p:cNvSpPr/>
          <p:nvPr/>
        </p:nvSpPr>
        <p:spPr>
          <a:xfrm>
            <a:off x="10561320" y="2743200"/>
            <a:ext cx="640080" cy="640080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561320" y="2834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33832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2828C"/>
                </a:solidFill>
                <a:latin typeface="Calibri"/>
              </a:defRPr>
            </a:pPr>
            <a:r>
              <a:t>patients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75520" y="36576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82828C"/>
                </a:solidFill>
                <a:latin typeface="Calibri"/>
              </a:defRPr>
            </a:pPr>
            <a:r>
              <a:t>Auto-detected after</a:t>
            </a:r>
          </a:p>
          <a:p>
            <a:pPr algn="ctr">
              <a:spcAft>
                <a:spcPts val="400"/>
              </a:spcAft>
              <a:defRPr sz="800" b="0">
                <a:solidFill>
                  <a:srgbClr val="82828C"/>
                </a:solidFill>
                <a:latin typeface="Calibri"/>
              </a:defRPr>
            </a:pPr>
            <a:r>
              <a:t>15 min. Queue skips.</a:t>
            </a:r>
          </a:p>
          <a:p>
            <a:pPr algn="ctr">
              <a:spcAft>
                <a:spcPts val="400"/>
              </a:spcAft>
              <a:defRPr sz="800" b="0">
                <a:solidFill>
                  <a:srgbClr val="82828C"/>
                </a:solidFill>
                <a:latin typeface="Calibri"/>
              </a:defRPr>
            </a:pPr>
            <a:r>
              <a:t>+10 patients added.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5760" y="4937760"/>
            <a:ext cx="11430000" cy="109728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D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65760" y="4937760"/>
            <a:ext cx="91440" cy="1097280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8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3C3C"/>
                </a:solidFill>
                <a:latin typeface="Calibri"/>
              </a:defRPr>
            </a:pPr>
            <a:r>
              <a:t>SKIP LOGIC (Smart Queue)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5394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282832"/>
                </a:solidFill>
                <a:latin typeface="Calibri"/>
              </a:defRPr>
            </a:pPr>
            <a:r>
              <a:t>When a patient doesn't arrive within 15 minutes of their slot: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282832"/>
                </a:solidFill>
                <a:latin typeface="Calibri"/>
              </a:defRPr>
            </a:pPr>
            <a:r>
              <a:t>1. System auto-marks as SKIPPED  2. Queue position shifts up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282832"/>
                </a:solidFill>
                <a:latin typeface="Calibri"/>
              </a:defRPr>
            </a:pPr>
            <a:r>
              <a:t>3. Next +10 patients get updated positions  4. Push notification sent to affected patients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3C3C"/>
                </a:solidFill>
                <a:latin typeface="Calibri"/>
              </a:defRPr>
            </a:pPr>
            <a:r>
              <a:t>WHY +10 PATIENTS?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5394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282832"/>
                </a:solidFill>
                <a:latin typeface="Calibri"/>
              </a:defRPr>
            </a:pPr>
            <a:r>
              <a:t>Adding buffer of 10 patients below current position ensures: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282832"/>
                </a:solidFill>
                <a:latin typeface="Calibri"/>
              </a:defRPr>
            </a:pPr>
            <a:r>
              <a:t>Queue never appears empty  |  Reduces perceived wait time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282832"/>
                </a:solidFill>
                <a:latin typeface="Calibri"/>
              </a:defRPr>
            </a:pPr>
            <a:r>
              <a:t>Doctor always has patients ready  |  No idle gaps between consultations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AI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Four AI capabilities that will transform Indian healthcare SaaS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7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2743200" cy="438912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2743200" cy="91440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2468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SMART DOCTOR</a:t>
            </a:r>
            <a:br/>
            <a:r>
              <a:t>MATCHING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2002536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167128"/>
            <a:ext cx="2002536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164772"/>
                </a:solidFill>
                <a:latin typeface="Calibri"/>
              </a:defRPr>
            </a:pPr>
            <a:r>
              <a:t>Symptom -&gt; Specialist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468880"/>
            <a:ext cx="2468880" cy="18288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2809055"/>
            <a:ext cx="24688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282832"/>
                </a:solidFill>
                <a:latin typeface="Calibri"/>
              </a:defRPr>
            </a:pPr>
            <a:r>
              <a:rPr sz="1100" dirty="0"/>
              <a:t>Patient describes symptoms</a:t>
            </a:r>
            <a:br>
              <a:rPr sz="1100" dirty="0"/>
            </a:br>
            <a:r>
              <a:rPr sz="1100" dirty="0"/>
              <a:t>AI analyzes and recommends</a:t>
            </a:r>
            <a:br>
              <a:rPr sz="1100" dirty="0"/>
            </a:br>
            <a:r>
              <a:rPr sz="1100" dirty="0"/>
              <a:t>right specialist immediately</a:t>
            </a:r>
            <a:br>
              <a:rPr sz="1100" dirty="0"/>
            </a:br>
            <a:br>
              <a:rPr sz="1100" dirty="0"/>
            </a:br>
            <a:r>
              <a:rPr sz="1100" dirty="0"/>
              <a:t>Example: "Chest pain + breath-</a:t>
            </a:r>
            <a:br>
              <a:rPr sz="1100" dirty="0"/>
            </a:br>
            <a:r>
              <a:rPr sz="1100" dirty="0"/>
              <a:t>lessness" -&gt; Cardiologist</a:t>
            </a:r>
            <a:br>
              <a:rPr sz="1100" dirty="0"/>
            </a:br>
            <a:br>
              <a:rPr sz="1100" dirty="0"/>
            </a:br>
            <a:endParaRPr sz="1100" dirty="0"/>
          </a:p>
        </p:txBody>
      </p:sp>
      <p:sp>
        <p:nvSpPr>
          <p:cNvPr id="16" name="Rounded Rectangle 15"/>
          <p:cNvSpPr/>
          <p:nvPr/>
        </p:nvSpPr>
        <p:spPr>
          <a:xfrm>
            <a:off x="3291840" y="1463040"/>
            <a:ext cx="2743200" cy="438912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91840" y="1463040"/>
            <a:ext cx="2743200" cy="9144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29000" y="1554480"/>
            <a:ext cx="2468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REPORT ANALYSIS</a:t>
            </a:r>
            <a:br/>
            <a:r>
              <a:t>(RAG)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2148840"/>
            <a:ext cx="2578608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2167128"/>
            <a:ext cx="2578608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1BBA8D"/>
                </a:solidFill>
                <a:latin typeface="Calibri"/>
              </a:defRPr>
            </a:pPr>
            <a:r>
              <a:t>Lab Report -&gt; Plain Language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2468880"/>
            <a:ext cx="2468880" cy="18288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83864" y="2807208"/>
            <a:ext cx="24688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282832"/>
                </a:solidFill>
                <a:latin typeface="Calibri"/>
              </a:defRPr>
            </a:pPr>
            <a:r>
              <a:rPr sz="1100" dirty="0"/>
              <a:t>Lab report uploaded -&gt; AI parses</a:t>
            </a:r>
            <a:br>
              <a:rPr sz="1100" dirty="0"/>
            </a:br>
            <a:r>
              <a:rPr sz="1100" dirty="0"/>
              <a:t>-&gt; explains in patient language</a:t>
            </a:r>
            <a:br>
              <a:rPr sz="1100" dirty="0"/>
            </a:br>
            <a:br>
              <a:rPr sz="1100" dirty="0"/>
            </a:br>
            <a:r>
              <a:rPr sz="1100" dirty="0"/>
              <a:t>Example: "Cholesterol 240 mg/dL</a:t>
            </a:r>
            <a:br>
              <a:rPr sz="1100" dirty="0"/>
            </a:br>
            <a:r>
              <a:rPr sz="1100" dirty="0"/>
              <a:t>(high). Reduce fried food.</a:t>
            </a:r>
            <a:br>
              <a:rPr sz="1100" dirty="0"/>
            </a:br>
            <a:r>
              <a:rPr sz="1100" dirty="0"/>
              <a:t>Follow up in 3 months."</a:t>
            </a:r>
            <a:br>
              <a:rPr sz="1100" dirty="0"/>
            </a:br>
            <a:br>
              <a:rPr sz="1100" dirty="0"/>
            </a:br>
            <a:endParaRPr sz="1100" dirty="0"/>
          </a:p>
        </p:txBody>
      </p:sp>
      <p:sp>
        <p:nvSpPr>
          <p:cNvPr id="23" name="Rounded Rectangle 22"/>
          <p:cNvSpPr/>
          <p:nvPr/>
        </p:nvSpPr>
        <p:spPr>
          <a:xfrm>
            <a:off x="6217920" y="1463040"/>
            <a:ext cx="2743200" cy="438912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1463040"/>
            <a:ext cx="2743200" cy="91440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1554480"/>
            <a:ext cx="2468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VOICE HEALTH</a:t>
            </a:r>
            <a:br/>
            <a:r>
              <a:t>ASSISTANT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39" y="2130552"/>
            <a:ext cx="2706625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90488" y="2167128"/>
            <a:ext cx="2779776" cy="17373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E6A01E"/>
                </a:solidFill>
                <a:latin typeface="Calibri"/>
              </a:defRPr>
            </a:pPr>
            <a:r>
              <a:t>Phone Call -&gt; Triage -&gt; Booking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468880"/>
            <a:ext cx="2468880" cy="18288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0257" y="2845908"/>
            <a:ext cx="24688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282832"/>
                </a:solidFill>
                <a:latin typeface="Calibri"/>
              </a:defRPr>
            </a:pPr>
            <a:r>
              <a:rPr sz="1100" dirty="0"/>
              <a:t>Patient calls clinic line.</a:t>
            </a:r>
            <a:br>
              <a:rPr sz="1100" dirty="0"/>
            </a:br>
            <a:r>
              <a:rPr sz="1100" dirty="0"/>
              <a:t>AI answers, triages symptoms,</a:t>
            </a:r>
            <a:br>
              <a:rPr sz="1100" dirty="0"/>
            </a:br>
            <a:r>
              <a:rPr sz="1100" dirty="0"/>
              <a:t>books appointment automatically.</a:t>
            </a:r>
            <a:br>
              <a:rPr sz="1100" dirty="0"/>
            </a:br>
            <a:br>
              <a:rPr sz="1100" dirty="0"/>
            </a:br>
            <a:r>
              <a:rPr sz="1100" dirty="0"/>
              <a:t>Handles FAQs, prescription</a:t>
            </a:r>
            <a:br>
              <a:rPr sz="1100" dirty="0"/>
            </a:br>
            <a:r>
              <a:rPr sz="1100" dirty="0"/>
              <a:t>refills, report delivery.</a:t>
            </a:r>
            <a:br>
              <a:rPr sz="1100" dirty="0"/>
            </a:br>
            <a:br>
              <a:rPr sz="1100" dirty="0"/>
            </a:br>
            <a:endParaRPr sz="1100" dirty="0"/>
          </a:p>
        </p:txBody>
      </p:sp>
      <p:sp>
        <p:nvSpPr>
          <p:cNvPr id="30" name="Rounded Rectangle 29"/>
          <p:cNvSpPr/>
          <p:nvPr/>
        </p:nvSpPr>
        <p:spPr>
          <a:xfrm>
            <a:off x="9144000" y="1463040"/>
            <a:ext cx="2743200" cy="4389120"/>
          </a:xfrm>
          <a:prstGeom prst="round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4000" y="1463040"/>
            <a:ext cx="2743200" cy="914400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81160" y="1554480"/>
            <a:ext cx="2468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PRESCRIPTION</a:t>
            </a:r>
            <a:br/>
            <a:r>
              <a:t>DIGITIZER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81160" y="2148840"/>
            <a:ext cx="2514600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15983" y="2157984"/>
            <a:ext cx="3072384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8C3CB4"/>
                </a:solidFill>
                <a:latin typeface="Calibri"/>
              </a:defRPr>
            </a:pPr>
            <a:r>
              <a:t>Handwriting -&gt; Digital -&gt; Pharmacy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1160" y="2468880"/>
            <a:ext cx="2468880" cy="18288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546337" y="2834640"/>
            <a:ext cx="24688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282832"/>
                </a:solidFill>
                <a:latin typeface="Calibri"/>
              </a:defRPr>
            </a:pPr>
            <a:r>
              <a:rPr sz="1100" dirty="0"/>
              <a:t>Doctor writes handwritten</a:t>
            </a:r>
            <a:br>
              <a:rPr sz="1100" dirty="0"/>
            </a:br>
            <a:r>
              <a:rPr sz="1100" dirty="0"/>
              <a:t>prescription. AI reads it,</a:t>
            </a:r>
            <a:br>
              <a:rPr sz="1100" dirty="0"/>
            </a:br>
            <a:r>
              <a:rPr sz="1100" dirty="0"/>
              <a:t>converts to digital format.</a:t>
            </a:r>
            <a:br>
              <a:rPr sz="1100" dirty="0"/>
            </a:br>
            <a:br>
              <a:rPr sz="1100" dirty="0"/>
            </a:br>
            <a:r>
              <a:rPr sz="1100" dirty="0"/>
              <a:t>Sends to pharmacy via app.</a:t>
            </a:r>
            <a:br>
              <a:rPr sz="1100" dirty="0"/>
            </a:br>
            <a:r>
              <a:rPr sz="1100" dirty="0"/>
              <a:t>Tracks medication adherence.</a:t>
            </a:r>
            <a:br>
              <a:rPr sz="1100" dirty="0"/>
            </a:br>
            <a:r>
              <a:rPr sz="1100" dirty="0"/>
              <a:t>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6035040"/>
            <a:ext cx="11430000" cy="457200"/>
          </a:xfrm>
          <a:prstGeom prst="roundRect">
            <a:avLst/>
          </a:prstGeom>
          <a:solidFill>
            <a:srgbClr val="E6FAE6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6053328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46432"/>
                </a:solidFill>
                <a:latin typeface="Calibri"/>
              </a:defRPr>
            </a:pPr>
            <a:r>
              <a:t>Key Insight: AI in healthcare market will reach $45 Billion by 2030. CatchQ is building these capabilities from Day 1 - not as an afterthought.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Hospital Bed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Real-time bed tracking for emergency and ward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8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26517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2651760" cy="54864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600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64772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Total Beds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463040"/>
            <a:ext cx="26517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1463040"/>
            <a:ext cx="2651760" cy="54864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1600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C3C3C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Occupied (65%)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463040"/>
            <a:ext cx="26517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265176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1600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BA8D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Available (25%)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463040"/>
            <a:ext cx="26517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0" y="1463040"/>
            <a:ext cx="2651760" cy="54864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0" y="1600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6A01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Emergency Free</a:t>
            </a:r>
          </a:p>
        </p:txBody>
      </p:sp>
      <p:pic>
        <p:nvPicPr>
          <p:cNvPr id="25" name="Picture 24" descr="hospital_b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0"/>
            <a:ext cx="5029200" cy="20116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365760" y="4183380"/>
            <a:ext cx="5029200" cy="1010412"/>
          </a:xfrm>
          <a:prstGeom prst="rect">
            <a:avLst/>
          </a:prstGeom>
          <a:solidFill>
            <a:srgbClr val="16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4945" y="438593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REAL-TIME BED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945" y="47091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CF0"/>
                </a:solidFill>
                <a:latin typeface="Calibri"/>
              </a:defRPr>
            </a:pPr>
            <a:r>
              <a:t>ICU, General, Emergency, Maternity, Pediatric</a:t>
            </a:r>
            <a:br/>
            <a:r>
              <a:t>Ward-wise status with equipment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BED STATUS GRID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2834640"/>
            <a:ext cx="1097280" cy="274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ICU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301752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49640" y="301752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869680" y="301752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189719" y="301752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509760" y="301752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829800" y="301752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149839" y="301752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469879" y="301752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General 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342900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549640" y="342900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869680" y="342900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189719" y="342900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509760" y="342900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829800" y="342900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149839" y="342900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469879" y="342900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789920" y="342900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1109960" y="342900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Emergency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384048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549640" y="384048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869680" y="384048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189719" y="384048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509760" y="384048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829800" y="384048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94360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Maternity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0" y="425196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549640" y="425196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869680" y="425196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189719" y="425196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509760" y="425196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829800" y="425196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9436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Pediatric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29600" y="466344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549640" y="466344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869680" y="466344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189719" y="466344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509760" y="4663440"/>
            <a:ext cx="256032" cy="2560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829800" y="4663440"/>
            <a:ext cx="256032" cy="2560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943600" y="5212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2828C"/>
                </a:solidFill>
                <a:latin typeface="Calibri"/>
              </a:defRPr>
            </a:pPr>
            <a:r>
              <a:t>Legend: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58000" y="5239512"/>
            <a:ext cx="182880" cy="16459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132320" y="5212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Available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46720" y="5239512"/>
            <a:ext cx="182880" cy="16459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321040" y="5212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Occupied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35440" y="5239512"/>
            <a:ext cx="182880" cy="164592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509760" y="5212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Reserved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65760" y="5486400"/>
            <a:ext cx="1828800" cy="64008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65760" y="5486400"/>
            <a:ext cx="182880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57200" y="5577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Ward Grid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5806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Color-coded status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286000" y="5486400"/>
            <a:ext cx="1828800" cy="64008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2286000" y="5486400"/>
            <a:ext cx="182880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377440" y="5577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Emergency Queue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77440" y="5806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&lt; 5 min allocation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206240" y="5486400"/>
            <a:ext cx="1828800" cy="64008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206240" y="5486400"/>
            <a:ext cx="182880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297680" y="5577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Admission Track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97680" y="5806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Full lifecycle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126480" y="5486400"/>
            <a:ext cx="1828800" cy="64008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6126480" y="5486400"/>
            <a:ext cx="182880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217920" y="5577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Family Alerts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17920" y="5806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Real-time notifications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046720" y="5486400"/>
            <a:ext cx="1828800" cy="64008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8046720" y="5486400"/>
            <a:ext cx="182880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138160" y="5577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Equipment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138160" y="5806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Ventilator, monitor, O2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966960" y="5486400"/>
            <a:ext cx="1828800" cy="64008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9966960" y="5486400"/>
            <a:ext cx="182880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058400" y="5577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Billing Link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058400" y="5806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Auto daily charges</a:t>
            </a:r>
          </a:p>
        </p:txBody>
      </p:sp>
    </p:spTree>
    <p:extLst>
      <p:ext uri="{BB962C8B-B14F-4D97-AF65-F5344CB8AC3E}">
        <p14:creationId xmlns:p14="http://schemas.microsoft.com/office/powerpoint/2010/main" val="2839533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Web App vs Android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Dual interface - Receptionist controls queue, Patient views live 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3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4772"/>
                </a:solidFill>
                <a:latin typeface="Calibri"/>
              </a:defRPr>
            </a:pPr>
            <a:r>
              <a:t>RECEPTIONIST WEB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1828800" cy="36576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201168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54864" cy="45720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0080" y="2084832"/>
            <a:ext cx="274320" cy="274320"/>
          </a:xfrm>
          <a:prstGeom prst="ellipse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1031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0574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Queue 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2402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View all patients for all doctors in one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1460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2514600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0080" y="2587752"/>
            <a:ext cx="274320" cy="27432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606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5603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Status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7432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Change status: Pending -&gt; Waiting -&gt; Serving -&gt; Completed/Skipped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01752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3017520"/>
            <a:ext cx="54864" cy="457200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0080" y="3090672"/>
            <a:ext cx="274320" cy="274320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31089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0632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Skip Patient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2461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One-click skip with auto-queue adjustment (+10 patients)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52044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3520440"/>
            <a:ext cx="54864" cy="457200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0080" y="3593592"/>
            <a:ext cx="274320" cy="274320"/>
          </a:xfrm>
          <a:prstGeom prst="ellipse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36118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3566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Doctor Filter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37490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Filter queue by doctor, time slot, or date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02336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4023360"/>
            <a:ext cx="54864" cy="45720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40080" y="4096512"/>
            <a:ext cx="274320" cy="274320"/>
          </a:xfrm>
          <a:prstGeom prst="ellipse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41148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40690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Bulk Actions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42519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Mark multiple patients as completed or skipped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52628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57200" y="4526280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40080" y="4599432"/>
            <a:ext cx="274320" cy="27432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46177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" y="45720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Real-time Updates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47548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Socket.io pushes changes instantly to patient apps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02920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57200" y="5029200"/>
            <a:ext cx="54864" cy="457200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640080" y="5102352"/>
            <a:ext cx="274320" cy="274320"/>
          </a:xfrm>
          <a:prstGeom prst="ellipse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51206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50749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" y="52578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Daily queue stats, avg wait time, no-show rate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53212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57200" y="5532120"/>
            <a:ext cx="54864" cy="457200"/>
          </a:xfrm>
          <a:prstGeom prst="rect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40080" y="5605272"/>
            <a:ext cx="274320" cy="274320"/>
          </a:xfrm>
          <a:prstGeom prst="ellipse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0080" y="56235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" y="55778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Patient Search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" y="57607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Find patient by name, phone, or appointment 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BA8D"/>
                </a:solidFill>
                <a:latin typeface="Calibri"/>
              </a:defRPr>
            </a:pPr>
            <a:r>
              <a:t>PATIENT ANDROID APP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0" y="1828800"/>
            <a:ext cx="1828800" cy="36576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6217920" y="201168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217920" y="2011680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6400800" y="2084832"/>
            <a:ext cx="274320" cy="27432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00800" y="21031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Q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6560" y="20574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Queue Position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0" y="22402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See your exact position in queue (e.g., #4 of 8)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17920" y="251460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217920" y="2514600"/>
            <a:ext cx="54864" cy="45720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6400800" y="2587752"/>
            <a:ext cx="274320" cy="274320"/>
          </a:xfrm>
          <a:prstGeom prst="ellipse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400800" y="2606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66560" y="25603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Serving Number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60" y="27432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Current patient being served (e.g., #3)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17920" y="301752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217920" y="3017520"/>
            <a:ext cx="54864" cy="457200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6400800" y="3090672"/>
            <a:ext cx="274320" cy="274320"/>
          </a:xfrm>
          <a:prstGeom prst="ellipse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400800" y="31089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66560" y="30632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Total in Queue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66560" y="32461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Total patients waiting for that doctor/slot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17920" y="352044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6217920" y="3520440"/>
            <a:ext cx="54864" cy="457200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6400800" y="3593592"/>
            <a:ext cx="274320" cy="274320"/>
          </a:xfrm>
          <a:prstGeom prst="ellipse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400800" y="36118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66560" y="3566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Estimated Wait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766560" y="37490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AI-calculated wait time based on avg consultation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217920" y="402336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6217920" y="4023360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6400800" y="4096512"/>
            <a:ext cx="274320" cy="27432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400800" y="41148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766560" y="40690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Live Updates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66560" y="42519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Real-time position changes via WebSocket push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217920" y="452628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6217920" y="4526280"/>
            <a:ext cx="54864" cy="45720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6400800" y="4599432"/>
            <a:ext cx="274320" cy="274320"/>
          </a:xfrm>
          <a:prstGeom prst="ellipse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400800" y="46177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766560" y="45720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Push Notifications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66560" y="47548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Alerts when it's almost your turn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217920" y="502920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6217920" y="5029200"/>
            <a:ext cx="54864" cy="457200"/>
          </a:xfrm>
          <a:prstGeom prst="rect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6400800" y="5102352"/>
            <a:ext cx="274320" cy="274320"/>
          </a:xfrm>
          <a:prstGeom prst="ellipse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400800" y="51206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766560" y="50749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Appointment Info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66560" y="52578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rPr dirty="0"/>
              <a:t>Doctor name, time slot, date, clinic address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217920" y="553212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6217920" y="5532120"/>
            <a:ext cx="54864" cy="457200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6400800" y="5605272"/>
            <a:ext cx="274320" cy="274320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400800" y="56235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766560" y="55778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Digital Receipt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766560" y="57607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Payment receipt and summary after visit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65760" y="6126480"/>
            <a:ext cx="11430000" cy="457200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E6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48640" y="6144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A01E"/>
                </a:solidFill>
                <a:latin typeface="Calibri"/>
              </a:defRPr>
            </a:pPr>
            <a:r>
              <a:t>SYNC: Web App status changes push to Android App via Socket.io in &lt;100ms  |  Patient sees live queue position updates instantly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CA27B-2F09-83AF-B07C-0172D6F3C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B798A6-E4AF-20B0-A475-0D49A7C21C94}"/>
              </a:ext>
            </a:extLst>
          </p:cNvPr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1D04B7-0525-EF93-7356-867C4D1E0526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C773AF-F6B6-10C2-ABAC-2E1DE1ACB8A1}"/>
              </a:ext>
            </a:extLst>
          </p:cNvPr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7FC04D-A26E-59A7-E6AA-B4C46EF95D39}"/>
              </a:ext>
            </a:extLst>
          </p:cNvPr>
          <p:cNvSpPr txBox="1"/>
          <p:nvPr/>
        </p:nvSpPr>
        <p:spPr>
          <a:xfrm>
            <a:off x="457200" y="285645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Web App </a:t>
            </a:r>
            <a:r>
              <a:rPr lang="en-IN" dirty="0"/>
              <a:t>&amp;</a:t>
            </a:r>
            <a:r>
              <a:rPr dirty="0"/>
              <a:t> Android App</a:t>
            </a:r>
            <a:r>
              <a:rPr lang="en-IN" dirty="0"/>
              <a:t> Screens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29CF7B-532D-4F09-64E4-0706B8600F98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7FE97D-C9FF-933E-EAAD-F48364BEE5BF}"/>
              </a:ext>
            </a:extLst>
          </p:cNvPr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0C43C9-2181-0E88-9D81-4603FAD52E61}"/>
              </a:ext>
            </a:extLst>
          </p:cNvPr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3 / 20</a:t>
            </a:r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88F6F3A3-755F-3E7F-649C-B500122D9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64" y="1335023"/>
            <a:ext cx="2218169" cy="4929264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80390F3A-4D7A-848E-7072-C517AFB0D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659" y="1335023"/>
            <a:ext cx="2279745" cy="5066100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8A8DE818-752E-F217-89AE-30AC5EB6B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1145" y="67312"/>
            <a:ext cx="1220513" cy="2712251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1EF1AC43-C755-9A0F-ED6D-A76846F184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6125" y="72801"/>
            <a:ext cx="1175450" cy="2711495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FACE6420-D331-26D6-88DA-64ED7D49CB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2840" y="2852715"/>
            <a:ext cx="7168323" cy="3617178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1FFFCFA9-1F8F-0592-F625-E7EDF358C0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6189" y="1329968"/>
            <a:ext cx="1626515" cy="1121256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8269B838-F957-65E9-CC73-AF07DBD52C35}"/>
              </a:ext>
            </a:extLst>
          </p:cNvPr>
          <p:cNvSpPr txBox="1"/>
          <p:nvPr/>
        </p:nvSpPr>
        <p:spPr>
          <a:xfrm>
            <a:off x="7259323" y="2241428"/>
            <a:ext cx="1021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CATCHQ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66EF381-7149-BBFE-216F-DEE81994D738}"/>
              </a:ext>
            </a:extLst>
          </p:cNvPr>
          <p:cNvSpPr/>
          <p:nvPr/>
        </p:nvSpPr>
        <p:spPr>
          <a:xfrm>
            <a:off x="5014317" y="2964873"/>
            <a:ext cx="1021331" cy="3509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D301D62-6945-B519-2E51-51E971F8ADD1}"/>
              </a:ext>
            </a:extLst>
          </p:cNvPr>
          <p:cNvSpPr txBox="1"/>
          <p:nvPr/>
        </p:nvSpPr>
        <p:spPr>
          <a:xfrm>
            <a:off x="5029200" y="2937441"/>
            <a:ext cx="1021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CATCHQ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0A43022-767C-87D4-D23C-9CE12DBA7C6C}"/>
              </a:ext>
            </a:extLst>
          </p:cNvPr>
          <p:cNvSpPr txBox="1"/>
          <p:nvPr/>
        </p:nvSpPr>
        <p:spPr>
          <a:xfrm>
            <a:off x="8108622" y="5760720"/>
            <a:ext cx="1021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WebApp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5606844-741A-F798-22B4-3065C4B2B60F}"/>
              </a:ext>
            </a:extLst>
          </p:cNvPr>
          <p:cNvSpPr txBox="1"/>
          <p:nvPr/>
        </p:nvSpPr>
        <p:spPr>
          <a:xfrm>
            <a:off x="4888248" y="1790331"/>
            <a:ext cx="15945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Android App Screens</a:t>
            </a:r>
          </a:p>
        </p:txBody>
      </p:sp>
    </p:spTree>
    <p:extLst>
      <p:ext uri="{BB962C8B-B14F-4D97-AF65-F5344CB8AC3E}">
        <p14:creationId xmlns:p14="http://schemas.microsoft.com/office/powerpoint/2010/main" val="4266682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Partnerships &amp; 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Strategic partnerships to accelerate growth and credibility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8 / 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4252" y="1371600"/>
            <a:ext cx="2834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4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54252" y="1371600"/>
            <a:ext cx="2834640" cy="4114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4252" y="13898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Government &amp; Policy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692" y="1920240"/>
            <a:ext cx="2651760" cy="9144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7132" y="19659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Ayushman Bharat (PMJAY)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132" y="21762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Integrate with 50Cr+ beneficiary database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132" y="2560320"/>
            <a:ext cx="1097280" cy="201168"/>
          </a:xfrm>
          <a:prstGeom prst="round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7132" y="256946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In Discussion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5692" y="2880360"/>
            <a:ext cx="2651760" cy="9144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7132" y="292608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ABDM (Ayushman Bharat Digital)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132" y="31363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Compliant with national health stack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7132" y="3520440"/>
            <a:ext cx="1097280" cy="201168"/>
          </a:xfrm>
          <a:prstGeom prst="roundRect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7132" y="352958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Building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5692" y="3840480"/>
            <a:ext cx="2651760" cy="9144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7132" y="388620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State Health Departments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132" y="40965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Pilot in West Bengal, Odisha, Jharkhand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7132" y="4480560"/>
            <a:ext cx="1097280" cy="201168"/>
          </a:xfrm>
          <a:prstGeom prst="roundRect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7132" y="448970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5692" y="4800600"/>
            <a:ext cx="2651760" cy="9144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7132" y="484632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IIT KGP Incubator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7132" y="5056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Mentorship, network, credibility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132" y="5440680"/>
            <a:ext cx="1097280" cy="201168"/>
          </a:xfrm>
          <a:prstGeom prst="round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7132" y="544982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Active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71772" y="1371600"/>
            <a:ext cx="2834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171772" y="1371600"/>
            <a:ext cx="2834640" cy="41148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171772" y="13898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Technology Partners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63212" y="1920240"/>
            <a:ext cx="2651760" cy="9144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54652" y="19659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WhatsApp Business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4652" y="21762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Official tech partner for healthcare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54652" y="2560320"/>
            <a:ext cx="1097280" cy="201168"/>
          </a:xfrm>
          <a:prstGeom prst="round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54652" y="256946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Applied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63212" y="2880360"/>
            <a:ext cx="2651760" cy="9144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54652" y="292608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AWS Activate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54652" y="31363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$10K credits for startups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54652" y="3520440"/>
            <a:ext cx="1097280" cy="201168"/>
          </a:xfrm>
          <a:prstGeom prst="round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54652" y="352958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Approved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63212" y="3840480"/>
            <a:ext cx="2651760" cy="9144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54652" y="388620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Razorpay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54652" y="40965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Payment gateway integration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54652" y="4480560"/>
            <a:ext cx="1097280" cy="201168"/>
          </a:xfrm>
          <a:prstGeom prst="round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354652" y="448970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63212" y="4800600"/>
            <a:ext cx="2651760" cy="9144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354652" y="484632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Google Maps API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54652" y="5056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rPr dirty="0"/>
              <a:t>Clinic location services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54652" y="5440680"/>
            <a:ext cx="1097280" cy="201168"/>
          </a:xfrm>
          <a:prstGeom prst="round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354652" y="544982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89292" y="1371600"/>
            <a:ext cx="2834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189292" y="1371600"/>
            <a:ext cx="2834640" cy="411480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189292" y="13898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Healthcare Partners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80732" y="1920240"/>
            <a:ext cx="2651760" cy="9144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72172" y="19659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Practo (potential)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2172" y="21762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API integration for referrals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72172" y="2560320"/>
            <a:ext cx="1097280" cy="201168"/>
          </a:xfrm>
          <a:prstGeom prst="roundRect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372172" y="256946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80732" y="2880360"/>
            <a:ext cx="2651760" cy="9144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372172" y="292608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PharmEasy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72172" y="31363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Medicine delivery integration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72172" y="3520440"/>
            <a:ext cx="1097280" cy="201168"/>
          </a:xfrm>
          <a:prstGeom prst="round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372172" y="352958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In Discussion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80732" y="3840480"/>
            <a:ext cx="2651760" cy="9144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372172" y="388620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Thyrocare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72172" y="40965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Lab test booking integration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72172" y="4480560"/>
            <a:ext cx="1097280" cy="201168"/>
          </a:xfrm>
          <a:prstGeom prst="round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372172" y="448970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In Discussion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80732" y="4800600"/>
            <a:ext cx="2651760" cy="9144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372172" y="484632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1mg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72172" y="5056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Pharmacy integration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372172" y="5440680"/>
            <a:ext cx="1097280" cy="201168"/>
          </a:xfrm>
          <a:prstGeom prst="roundRect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372172" y="544982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206812" y="1371600"/>
            <a:ext cx="2834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206812" y="1371600"/>
            <a:ext cx="2834640" cy="41148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206812" y="13898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Channel Partners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298252" y="1920240"/>
            <a:ext cx="2651760" cy="9144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389692" y="19659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Doctor Associations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89692" y="21762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IMA, IAP state chapters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389692" y="2560320"/>
            <a:ext cx="1097280" cy="201168"/>
          </a:xfrm>
          <a:prstGeom prst="round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389692" y="256946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In Discussion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298252" y="2880360"/>
            <a:ext cx="2651760" cy="9144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389692" y="292608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Medical Equip Vendors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389692" y="31363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rPr dirty="0"/>
              <a:t>Bundle deals for clinics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389692" y="3520440"/>
            <a:ext cx="1097280" cy="201168"/>
          </a:xfrm>
          <a:prstGeom prst="roundRect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389692" y="352958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298252" y="3840480"/>
            <a:ext cx="2651760" cy="9144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389692" y="388620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Insurance Companies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89692" y="40965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Cashless claim processing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389692" y="4480560"/>
            <a:ext cx="1097280" cy="201168"/>
          </a:xfrm>
          <a:prstGeom prst="roundRect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389692" y="448970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298252" y="4800600"/>
            <a:ext cx="2651760" cy="9144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389692" y="484632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2832"/>
                </a:solidFill>
                <a:latin typeface="Calibri"/>
              </a:defRPr>
            </a:pPr>
            <a:r>
              <a:t>Chartered Accountants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389692" y="5056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2828C"/>
                </a:solidFill>
                <a:latin typeface="Calibri"/>
              </a:defRPr>
            </a:pPr>
            <a:r>
              <a:t>Referral network for billing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389692" y="5440680"/>
            <a:ext cx="1097280" cy="201168"/>
          </a:xfrm>
          <a:prstGeom prst="roundRect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9389692" y="544982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Planned</a:t>
            </a:r>
          </a:p>
        </p:txBody>
      </p:sp>
    </p:spTree>
    <p:extLst>
      <p:ext uri="{BB962C8B-B14F-4D97-AF65-F5344CB8AC3E}">
        <p14:creationId xmlns:p14="http://schemas.microsoft.com/office/powerpoint/2010/main" val="3488115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Product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Clear path from MVP to market leadership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15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4772"/>
                </a:solidFill>
                <a:latin typeface="Calibri"/>
              </a:defRPr>
            </a:pPr>
            <a:r>
              <a:t>DEVELOPMENT TIMELINE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1371600" cy="36576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11247120" cy="73152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88720" y="2011680"/>
            <a:ext cx="274320" cy="27432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256032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2560320" cy="13716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7432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BA8D"/>
                </a:solidFill>
                <a:latin typeface="Calibri"/>
              </a:defRPr>
            </a:pPr>
            <a:r>
              <a:rPr dirty="0"/>
              <a:t>Q</a:t>
            </a:r>
            <a:r>
              <a:rPr lang="en-IN" dirty="0"/>
              <a:t>2</a:t>
            </a:r>
            <a:r>
              <a:rPr dirty="0"/>
              <a:t>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17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MVP Launch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383280"/>
            <a:ext cx="2377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2828C"/>
                </a:solidFill>
                <a:latin typeface="Calibri"/>
              </a:defRPr>
            </a:pPr>
            <a:r>
              <a:rPr dirty="0"/>
              <a:t>Core booking, queue, billing.</a:t>
            </a:r>
          </a:p>
        </p:txBody>
      </p:sp>
      <p:sp>
        <p:nvSpPr>
          <p:cNvPr id="18" name="Oval 17"/>
          <p:cNvSpPr/>
          <p:nvPr/>
        </p:nvSpPr>
        <p:spPr>
          <a:xfrm>
            <a:off x="3931920" y="2011680"/>
            <a:ext cx="274320" cy="274320"/>
          </a:xfrm>
          <a:prstGeom prst="ellipse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200400" y="256032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0" y="2560320"/>
            <a:ext cx="2560320" cy="13716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91840" y="27432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4772"/>
                </a:solidFill>
                <a:latin typeface="Calibri"/>
              </a:defRPr>
            </a:pPr>
            <a:r>
              <a:rPr dirty="0"/>
              <a:t>Q</a:t>
            </a:r>
            <a:r>
              <a:rPr lang="en-IN" dirty="0"/>
              <a:t>3</a:t>
            </a:r>
            <a:r>
              <a:rPr dirty="0"/>
              <a:t>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017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AI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383280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2828C"/>
                </a:solidFill>
                <a:latin typeface="Calibri"/>
              </a:defRPr>
            </a:pPr>
            <a:r>
              <a:rPr dirty="0"/>
              <a:t>Doctor matching, report analysis.</a:t>
            </a:r>
            <a:br>
              <a:rPr dirty="0"/>
            </a:br>
            <a:endParaRPr dirty="0"/>
          </a:p>
        </p:txBody>
      </p:sp>
      <p:sp>
        <p:nvSpPr>
          <p:cNvPr id="24" name="Oval 23"/>
          <p:cNvSpPr/>
          <p:nvPr/>
        </p:nvSpPr>
        <p:spPr>
          <a:xfrm>
            <a:off x="6675120" y="2011680"/>
            <a:ext cx="274320" cy="274320"/>
          </a:xfrm>
          <a:prstGeom prst="ellipse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943600" y="256032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0" y="2560320"/>
            <a:ext cx="2560320" cy="13716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35040" y="27432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A01E"/>
                </a:solidFill>
                <a:latin typeface="Calibri"/>
              </a:defRPr>
            </a:pPr>
            <a:r>
              <a:rPr dirty="0"/>
              <a:t>Q</a:t>
            </a:r>
            <a:r>
              <a:rPr lang="en-IN" dirty="0"/>
              <a:t>4 </a:t>
            </a:r>
            <a:r>
              <a:rPr dirty="0"/>
              <a:t>202</a:t>
            </a:r>
            <a:r>
              <a:rPr lang="en-IN" dirty="0"/>
              <a:t>6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6035040" y="3017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Scale Phase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383280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2828C"/>
                </a:solidFill>
                <a:latin typeface="Calibri"/>
              </a:defRPr>
            </a:pPr>
            <a:r>
              <a:rPr dirty="0"/>
              <a:t>Pharmacy integration, bed mgmt.</a:t>
            </a:r>
            <a:br>
              <a:rPr dirty="0"/>
            </a:br>
            <a:endParaRPr dirty="0"/>
          </a:p>
        </p:txBody>
      </p:sp>
      <p:sp>
        <p:nvSpPr>
          <p:cNvPr id="30" name="Oval 29"/>
          <p:cNvSpPr/>
          <p:nvPr/>
        </p:nvSpPr>
        <p:spPr>
          <a:xfrm>
            <a:off x="9418320" y="2011680"/>
            <a:ext cx="274320" cy="274320"/>
          </a:xfrm>
          <a:prstGeom prst="ellipse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56032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686800" y="2560320"/>
            <a:ext cx="2560320" cy="137160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78240" y="27432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C3CB4"/>
                </a:solidFill>
                <a:latin typeface="Calibri"/>
              </a:defRPr>
            </a:pPr>
            <a:r>
              <a:rPr dirty="0"/>
              <a:t>Q</a:t>
            </a:r>
            <a:r>
              <a:rPr lang="en-IN" dirty="0"/>
              <a:t>1</a:t>
            </a:r>
            <a:r>
              <a:rPr dirty="0"/>
              <a:t> 202</a:t>
            </a:r>
            <a:r>
              <a:rPr lang="en-IN" dirty="0"/>
              <a:t>7</a:t>
            </a: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8778240" y="3017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2832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383280"/>
            <a:ext cx="2377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2828C"/>
                </a:solidFill>
                <a:latin typeface="Calibri"/>
              </a:defRPr>
            </a:pPr>
            <a:r>
              <a:rPr dirty="0"/>
              <a:t>Voice assistant, multi-location.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KEY MILESTONES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029200"/>
            <a:ext cx="914400" cy="274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57200" y="5212080"/>
            <a:ext cx="2743200" cy="5486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523036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45920" y="5230368"/>
            <a:ext cx="1371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rPr dirty="0"/>
              <a:t>MRR</a:t>
            </a:r>
            <a:r>
              <a:rPr lang="en-IN" dirty="0"/>
              <a:t> Increase</a:t>
            </a:r>
            <a:endParaRPr dirty="0"/>
          </a:p>
        </p:txBody>
      </p:sp>
      <p:sp>
        <p:nvSpPr>
          <p:cNvPr id="41" name="Rounded Rectangle 40"/>
          <p:cNvSpPr/>
          <p:nvPr/>
        </p:nvSpPr>
        <p:spPr>
          <a:xfrm>
            <a:off x="3337560" y="5212080"/>
            <a:ext cx="2743200" cy="5486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29000" y="523036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Month 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5230368"/>
            <a:ext cx="1371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rPr dirty="0"/>
              <a:t>AI features live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5212080"/>
            <a:ext cx="2743200" cy="5486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9360" y="523036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Month 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5230368"/>
            <a:ext cx="1371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rPr lang="en-IN" dirty="0"/>
              <a:t>Expansion of clinics</a:t>
            </a:r>
            <a:endParaRPr dirty="0"/>
          </a:p>
        </p:txBody>
      </p:sp>
      <p:sp>
        <p:nvSpPr>
          <p:cNvPr id="47" name="Rounded Rectangle 46"/>
          <p:cNvSpPr/>
          <p:nvPr/>
        </p:nvSpPr>
        <p:spPr>
          <a:xfrm>
            <a:off x="9098280" y="5212080"/>
            <a:ext cx="2743200" cy="5486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89720" y="523036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Month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87000" y="5230368"/>
            <a:ext cx="1371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rPr dirty="0"/>
              <a:t>Rs. </a:t>
            </a:r>
            <a:r>
              <a:rPr lang="en-IN" dirty="0"/>
              <a:t>2</a:t>
            </a:r>
            <a:r>
              <a:rPr dirty="0"/>
              <a:t>5L MRR</a:t>
            </a:r>
          </a:p>
        </p:txBody>
      </p:sp>
    </p:spTree>
    <p:extLst>
      <p:ext uri="{BB962C8B-B14F-4D97-AF65-F5344CB8AC3E}">
        <p14:creationId xmlns:p14="http://schemas.microsoft.com/office/powerpoint/2010/main" val="3591121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Roadmap &amp;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18-month execution plan tied to seed fund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5 / 31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569" y="3474720"/>
            <a:ext cx="11247120" cy="73152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07329" y="3337560"/>
            <a:ext cx="320040" cy="320040"/>
          </a:xfrm>
          <a:prstGeom prst="ellipse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7329" y="33832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1569" y="1371600"/>
            <a:ext cx="2377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4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569" y="1371600"/>
            <a:ext cx="2377440" cy="36576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569" y="1389888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Month 1-3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69" y="157276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MVP Launch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009" y="182880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Core queue management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009" y="201168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5 beta clinics onboarded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009" y="219456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WhatsApp integration V1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009" y="237744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Billing module 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009" y="256032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Patient app launched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569" y="3931920"/>
            <a:ext cx="2377440" cy="2194560"/>
          </a:xfrm>
          <a:prstGeom prst="roundRect">
            <a:avLst/>
          </a:prstGeom>
          <a:solidFill>
            <a:srgbClr val="F0F8F0"/>
          </a:solidFill>
          <a:ln w="12700">
            <a:solidFill>
              <a:srgbClr val="164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569" y="40233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64772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4449" y="4297680"/>
            <a:ext cx="20116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5889" y="4354945"/>
            <a:ext cx="1828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rPr dirty="0"/>
              <a:t>5 clinics </a:t>
            </a:r>
            <a:r>
              <a:rPr lang="en-IN" dirty="0"/>
              <a:t>try to onboard</a:t>
            </a:r>
            <a:endParaRPr dirty="0"/>
          </a:p>
        </p:txBody>
      </p:sp>
      <p:sp>
        <p:nvSpPr>
          <p:cNvPr id="25" name="Rounded Rectangle 24"/>
          <p:cNvSpPr/>
          <p:nvPr/>
        </p:nvSpPr>
        <p:spPr>
          <a:xfrm>
            <a:off x="224449" y="4663440"/>
            <a:ext cx="20116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5889" y="4709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Rs. 1.5L MRR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4449" y="5029200"/>
            <a:ext cx="20116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5889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80% activation</a:t>
            </a:r>
          </a:p>
        </p:txBody>
      </p:sp>
      <p:sp>
        <p:nvSpPr>
          <p:cNvPr id="29" name="Oval 28"/>
          <p:cNvSpPr/>
          <p:nvPr/>
        </p:nvSpPr>
        <p:spPr>
          <a:xfrm>
            <a:off x="2967649" y="3337560"/>
            <a:ext cx="320040" cy="320040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67649" y="33832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601889" y="1371600"/>
            <a:ext cx="2377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601889" y="1371600"/>
            <a:ext cx="2377440" cy="36576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01889" y="1389888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Month 4-6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1889" y="157276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Product-Market Fit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3329" y="182880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AI scheduling V1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93329" y="201168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100+ clinics in pipeline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3329" y="219456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NPS score &gt; 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3329" y="237744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Rs. 3L MRR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3329" y="256032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2000+ patients/month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01889" y="3931920"/>
            <a:ext cx="2377440" cy="2194560"/>
          </a:xfrm>
          <a:prstGeom prst="roundRect">
            <a:avLst/>
          </a:prstGeom>
          <a:solidFill>
            <a:srgbClr val="F0F8F0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601889" y="40233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BBA8D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4769" y="4297680"/>
            <a:ext cx="20116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876209" y="4343400"/>
            <a:ext cx="1828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rPr dirty="0"/>
              <a:t>15 clinics</a:t>
            </a:r>
            <a:r>
              <a:rPr lang="en-IN" dirty="0"/>
              <a:t> try to onboard</a:t>
            </a:r>
            <a:endParaRPr dirty="0"/>
          </a:p>
        </p:txBody>
      </p:sp>
      <p:sp>
        <p:nvSpPr>
          <p:cNvPr id="44" name="Rounded Rectangle 43"/>
          <p:cNvSpPr/>
          <p:nvPr/>
        </p:nvSpPr>
        <p:spPr>
          <a:xfrm>
            <a:off x="2784769" y="4663440"/>
            <a:ext cx="20116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876209" y="4709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Rs. 3L MRR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84769" y="5029200"/>
            <a:ext cx="20116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876209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NPS &gt; 50</a:t>
            </a:r>
          </a:p>
        </p:txBody>
      </p:sp>
      <p:sp>
        <p:nvSpPr>
          <p:cNvPr id="48" name="Oval 47"/>
          <p:cNvSpPr/>
          <p:nvPr/>
        </p:nvSpPr>
        <p:spPr>
          <a:xfrm>
            <a:off x="5527969" y="3337560"/>
            <a:ext cx="320040" cy="320040"/>
          </a:xfrm>
          <a:prstGeom prst="ellipse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527969" y="33832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162209" y="1371600"/>
            <a:ext cx="2377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162209" y="1371600"/>
            <a:ext cx="2377440" cy="365760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162209" y="1389888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Month 7-9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2209" y="157276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Growth Engine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53649" y="182880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Bed management launched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53649" y="201168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25 active clinics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53649" y="219456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Referral program live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53649" y="237744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Rs. 8L MRR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53649" y="256032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10,000+ patients/month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162209" y="3931920"/>
            <a:ext cx="2377440" cy="2194560"/>
          </a:xfrm>
          <a:prstGeom prst="roundRect">
            <a:avLst/>
          </a:prstGeom>
          <a:solidFill>
            <a:srgbClr val="F0F8F0"/>
          </a:solidFill>
          <a:ln w="12700">
            <a:solidFill>
              <a:srgbClr val="3C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162209" y="40233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C82B4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45089" y="4297680"/>
            <a:ext cx="20116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36529" y="4343400"/>
            <a:ext cx="1828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rPr dirty="0"/>
              <a:t>25 clinics</a:t>
            </a:r>
            <a:r>
              <a:rPr lang="en-IN" dirty="0"/>
              <a:t> try to onboard</a:t>
            </a:r>
            <a:endParaRPr dirty="0"/>
          </a:p>
        </p:txBody>
      </p:sp>
      <p:sp>
        <p:nvSpPr>
          <p:cNvPr id="63" name="Rounded Rectangle 62"/>
          <p:cNvSpPr/>
          <p:nvPr/>
        </p:nvSpPr>
        <p:spPr>
          <a:xfrm>
            <a:off x="5345089" y="4663440"/>
            <a:ext cx="20116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436529" y="4709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Rs. 8L MRR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345089" y="5029200"/>
            <a:ext cx="20116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36529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40% referrals</a:t>
            </a:r>
          </a:p>
        </p:txBody>
      </p:sp>
      <p:sp>
        <p:nvSpPr>
          <p:cNvPr id="67" name="Oval 66"/>
          <p:cNvSpPr/>
          <p:nvPr/>
        </p:nvSpPr>
        <p:spPr>
          <a:xfrm>
            <a:off x="8088289" y="3337560"/>
            <a:ext cx="320040" cy="320040"/>
          </a:xfrm>
          <a:prstGeom prst="ellipse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088289" y="33832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7722529" y="1371600"/>
            <a:ext cx="2377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7722529" y="1371600"/>
            <a:ext cx="2377440" cy="36576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722529" y="1389888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Month 10-12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22529" y="157276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13969" y="182880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50 paying clinics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13969" y="201168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AI diagnostics V1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13969" y="219456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Rs. 15L MRR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3969" y="237744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Series A readiness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13969" y="256032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25,000+ patients/month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722529" y="3931920"/>
            <a:ext cx="2377440" cy="2194560"/>
          </a:xfrm>
          <a:prstGeom prst="roundRect">
            <a:avLst/>
          </a:prstGeom>
          <a:solidFill>
            <a:srgbClr val="F0F8F0"/>
          </a:solidFill>
          <a:ln w="12700">
            <a:solidFill>
              <a:srgbClr val="E6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722529" y="40233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6A01E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905409" y="4297680"/>
            <a:ext cx="20116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996849" y="4343400"/>
            <a:ext cx="1828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rPr dirty="0"/>
              <a:t>50 clinics</a:t>
            </a:r>
            <a:r>
              <a:rPr lang="en-IN" dirty="0"/>
              <a:t> try to onboard</a:t>
            </a:r>
            <a:endParaRPr dirty="0"/>
          </a:p>
        </p:txBody>
      </p:sp>
      <p:sp>
        <p:nvSpPr>
          <p:cNvPr id="82" name="Rounded Rectangle 81"/>
          <p:cNvSpPr/>
          <p:nvPr/>
        </p:nvSpPr>
        <p:spPr>
          <a:xfrm>
            <a:off x="7905409" y="4663440"/>
            <a:ext cx="20116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996849" y="4709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Rs. 15L MRR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905409" y="5029200"/>
            <a:ext cx="20116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96849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Series A ready</a:t>
            </a:r>
          </a:p>
        </p:txBody>
      </p:sp>
      <p:sp>
        <p:nvSpPr>
          <p:cNvPr id="86" name="Oval 85"/>
          <p:cNvSpPr/>
          <p:nvPr/>
        </p:nvSpPr>
        <p:spPr>
          <a:xfrm>
            <a:off x="10648609" y="3337560"/>
            <a:ext cx="320040" cy="320040"/>
          </a:xfrm>
          <a:prstGeom prst="ellipse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648609" y="33832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10282849" y="1371600"/>
            <a:ext cx="177614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C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0282849" y="1371600"/>
            <a:ext cx="1776142" cy="365760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024233" y="1389888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Month 13-18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08529" y="1529911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Expansion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374289" y="182880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100+ clinics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374289" y="201168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Tier-2 city launch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374289" y="219456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Rs. 30L MRR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374289" y="237744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Insurance integrations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74289" y="256032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282832"/>
                </a:solidFill>
                <a:latin typeface="Calibri"/>
              </a:defRPr>
            </a:pPr>
            <a:r>
              <a:t>  Government partnerships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282849" y="3931920"/>
            <a:ext cx="1776142" cy="2194560"/>
          </a:xfrm>
          <a:prstGeom prst="roundRect">
            <a:avLst/>
          </a:prstGeom>
          <a:solidFill>
            <a:srgbClr val="F0F8F0"/>
          </a:solidFill>
          <a:ln w="12700">
            <a:solidFill>
              <a:srgbClr val="8C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099969" y="40233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C3CB4"/>
                </a:solidFill>
                <a:latin typeface="Calibri"/>
              </a:defRPr>
            </a:pPr>
            <a:r>
              <a:rPr dirty="0"/>
              <a:t>KEY METRICS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465729" y="4297680"/>
            <a:ext cx="1501822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333333" y="4354945"/>
            <a:ext cx="1828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rPr dirty="0"/>
              <a:t>100+ clinics</a:t>
            </a:r>
            <a:r>
              <a:rPr lang="en-IN" dirty="0"/>
              <a:t> try to onboard</a:t>
            </a:r>
            <a:endParaRPr dirty="0"/>
          </a:p>
        </p:txBody>
      </p:sp>
      <p:sp>
        <p:nvSpPr>
          <p:cNvPr id="101" name="Rounded Rectangle 100"/>
          <p:cNvSpPr/>
          <p:nvPr/>
        </p:nvSpPr>
        <p:spPr>
          <a:xfrm>
            <a:off x="10465729" y="4663440"/>
            <a:ext cx="1501822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0327167" y="4709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rPr dirty="0"/>
              <a:t>Rs. 30L MRR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0465729" y="5029200"/>
            <a:ext cx="1501822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0362895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rPr dirty="0"/>
              <a:t>Tier-2 launch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15889" y="6200278"/>
            <a:ext cx="11247120" cy="280231"/>
          </a:xfrm>
          <a:prstGeom prst="roundRect">
            <a:avLst/>
          </a:prstGeom>
          <a:solidFill>
            <a:srgbClr val="F0F8F0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64529" y="620027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BA8D"/>
                </a:solidFill>
                <a:latin typeface="Calibri"/>
              </a:defRPr>
            </a:pPr>
            <a:r>
              <a:t>MILESTONES TIED TO FUNDING:  Rs. 30-35L covers 18 months runway  |  Breakeven at Month 14  |  Series A at Month 12-15</a:t>
            </a:r>
          </a:p>
        </p:txBody>
      </p:sp>
    </p:spTree>
    <p:extLst>
      <p:ext uri="{BB962C8B-B14F-4D97-AF65-F5344CB8AC3E}">
        <p14:creationId xmlns:p14="http://schemas.microsoft.com/office/powerpoint/2010/main" val="126445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CatchQ vs alternatives - Only platform with queue + AI + bed management + WhatsApp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1 / 31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011680" cy="365760"/>
          </a:xfrm>
          <a:prstGeom prst="rect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813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463040"/>
            <a:ext cx="1828800" cy="36576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06040" y="14813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CatchQ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463040"/>
            <a:ext cx="1828800" cy="365760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4813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Practo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463040"/>
            <a:ext cx="1828800" cy="365760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813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ClinicEase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63040"/>
            <a:ext cx="1828800" cy="36576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4813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qTest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04120" y="1463040"/>
            <a:ext cx="1828800" cy="365760"/>
          </a:xfrm>
          <a:prstGeom prst="rect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04120" y="14813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Paper/WhatsApp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874519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189280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Real-time Queue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1874519"/>
            <a:ext cx="1828800" cy="320040"/>
          </a:xfrm>
          <a:prstGeom prst="rect">
            <a:avLst/>
          </a:prstGeom>
          <a:solidFill>
            <a:srgbClr val="E6F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06040" y="18928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BBA8D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1874519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0560" y="18928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1874519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18928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874519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18928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04120" y="1874519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04120" y="18928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2203703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222199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AI Scheduling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06040" y="2203703"/>
            <a:ext cx="1828800" cy="320040"/>
          </a:xfrm>
          <a:prstGeom prst="rect">
            <a:avLst/>
          </a:prstGeom>
          <a:solidFill>
            <a:srgbClr val="E6F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06040" y="222199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BBA8D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2203703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0" y="222199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2203703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55080" y="222199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2203703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0" y="222199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04120" y="2203703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104120" y="222199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2532887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255117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WhatsApp Integration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06040" y="2532887"/>
            <a:ext cx="1828800" cy="320040"/>
          </a:xfrm>
          <a:prstGeom prst="rect">
            <a:avLst/>
          </a:prstGeom>
          <a:solidFill>
            <a:srgbClr val="E6F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606040" y="255117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BBA8D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80560" y="2532887"/>
            <a:ext cx="1828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480560" y="255117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Limited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55080" y="2532887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55080" y="255117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2532887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29600" y="255117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104120" y="2532887"/>
            <a:ext cx="1828800" cy="32004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104120" y="255117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2862071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48640" y="288035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Bed Management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06040" y="2862071"/>
            <a:ext cx="1828800" cy="320040"/>
          </a:xfrm>
          <a:prstGeom prst="rect">
            <a:avLst/>
          </a:prstGeom>
          <a:solidFill>
            <a:srgbClr val="E6F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606040" y="28803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BBA8D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80560" y="2862071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480560" y="28803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55080" y="2862071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355080" y="28803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0" y="2862071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229600" y="28803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104120" y="2862071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104120" y="28803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3191255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8640" y="320954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Smart Billing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06040" y="3191255"/>
            <a:ext cx="1828800" cy="320040"/>
          </a:xfrm>
          <a:prstGeom prst="rect">
            <a:avLst/>
          </a:prstGeom>
          <a:solidFill>
            <a:srgbClr val="E6F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606040" y="320954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BBA8D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80560" y="3191255"/>
            <a:ext cx="1828800" cy="32004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480560" y="320954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3191255"/>
            <a:ext cx="1828800" cy="32004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355080" y="320954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29600" y="3191255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229600" y="320954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104120" y="3191255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104120" y="320954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" y="3520439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48640" y="353872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Digital Prescriptions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606040" y="3520439"/>
            <a:ext cx="1828800" cy="320040"/>
          </a:xfrm>
          <a:prstGeom prst="rect">
            <a:avLst/>
          </a:prstGeom>
          <a:solidFill>
            <a:srgbClr val="E6F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606040" y="353872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BBA8D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480560" y="3520439"/>
            <a:ext cx="1828800" cy="32004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480560" y="353872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55080" y="3520439"/>
            <a:ext cx="1828800" cy="32004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355080" y="353872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29600" y="3520439"/>
            <a:ext cx="1828800" cy="32004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229600" y="353872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104120" y="3520439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104120" y="353872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8640" y="3849623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48640" y="386791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Patient App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606040" y="3849623"/>
            <a:ext cx="1828800" cy="320040"/>
          </a:xfrm>
          <a:prstGeom prst="rect">
            <a:avLst/>
          </a:prstGeom>
          <a:solidFill>
            <a:srgbClr val="E6F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606040" y="386791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BBA8D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480560" y="3849623"/>
            <a:ext cx="1828800" cy="32004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480560" y="386791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355080" y="3849623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355080" y="386791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229600" y="3849623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229600" y="386791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04120" y="3849623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0104120" y="386791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8640" y="4178807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48640" y="419709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Multi-Doctor Support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606040" y="4178807"/>
            <a:ext cx="1828800" cy="320040"/>
          </a:xfrm>
          <a:prstGeom prst="rect">
            <a:avLst/>
          </a:prstGeom>
          <a:solidFill>
            <a:srgbClr val="E6F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2606040" y="419709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BBA8D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480560" y="4178807"/>
            <a:ext cx="1828800" cy="32004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480560" y="419709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55080" y="4178807"/>
            <a:ext cx="1828800" cy="32004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355080" y="419709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229600" y="4178807"/>
            <a:ext cx="1828800" cy="32004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229600" y="419709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104120" y="4178807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104120" y="419709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48640" y="4507991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548640" y="452627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Analytics Dashboard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606040" y="4507991"/>
            <a:ext cx="1828800" cy="320040"/>
          </a:xfrm>
          <a:prstGeom prst="rect">
            <a:avLst/>
          </a:prstGeom>
          <a:solidFill>
            <a:srgbClr val="E6F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606040" y="45262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BBA8D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480560" y="4507991"/>
            <a:ext cx="1828800" cy="32004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480560" y="45262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355080" y="4507991"/>
            <a:ext cx="1828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355080" y="45262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Basic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229600" y="4507991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229600" y="45262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104120" y="4507991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0104120" y="45262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48640" y="4837175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548640" y="485546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Offline Support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606040" y="4837175"/>
            <a:ext cx="1828800" cy="320040"/>
          </a:xfrm>
          <a:prstGeom prst="rect">
            <a:avLst/>
          </a:prstGeom>
          <a:solidFill>
            <a:srgbClr val="E6F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2606040" y="485546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BBA8D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480560" y="4837175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4480560" y="485546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355080" y="4837175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6355080" y="485546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229600" y="4837175"/>
            <a:ext cx="1828800" cy="3200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229600" y="485546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3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104120" y="4837175"/>
            <a:ext cx="1828800" cy="32004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0104120" y="485546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48640" y="5166359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548640" y="518464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Price/month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606040" y="5166359"/>
            <a:ext cx="1828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2606040" y="51846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82832"/>
                </a:solidFill>
                <a:latin typeface="Calibri"/>
              </a:defRPr>
            </a:pPr>
            <a:r>
              <a:t>Rs.2,999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480560" y="5166359"/>
            <a:ext cx="1828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4480560" y="51846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Rs.5,000+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355080" y="5166359"/>
            <a:ext cx="1828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6355080" y="51846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Rs.4,000+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229600" y="5166359"/>
            <a:ext cx="1828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8229600" y="51846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Rs.3,500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104120" y="5166359"/>
            <a:ext cx="1828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10104120" y="51846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48640" y="5495543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548640" y="55138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Setup Time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606040" y="5495543"/>
            <a:ext cx="1828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2606040" y="55138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82832"/>
                </a:solidFill>
                <a:latin typeface="Calibri"/>
              </a:defRPr>
            </a:pPr>
            <a:r>
              <a:t>10 min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480560" y="5495543"/>
            <a:ext cx="1828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4480560" y="55138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2-3 days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355080" y="5495543"/>
            <a:ext cx="1828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355080" y="55138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1 week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229600" y="5495543"/>
            <a:ext cx="1828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8229600" y="55138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1 week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104120" y="5495543"/>
            <a:ext cx="1828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10104120" y="55138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82832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365760" y="5943600"/>
            <a:ext cx="11430000" cy="548640"/>
          </a:xfrm>
          <a:prstGeom prst="roundRect">
            <a:avLst/>
          </a:prstGeom>
          <a:solidFill>
            <a:srgbClr val="F0F8F0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548640" y="59618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BA8D"/>
                </a:solidFill>
                <a:latin typeface="Calibri"/>
              </a:defRPr>
            </a:pPr>
            <a:r>
              <a:t>CATCHQ ADVANTAGE:  Only all-in-one platform  |  WhatsApp-native (India-first)  |  AI from Day 1  |  Rs. 2,999/mo (60% cheaper)  |  10-min setup vs weeks</a:t>
            </a:r>
          </a:p>
        </p:txBody>
      </p:sp>
    </p:spTree>
    <p:extLst>
      <p:ext uri="{BB962C8B-B14F-4D97-AF65-F5344CB8AC3E}">
        <p14:creationId xmlns:p14="http://schemas.microsoft.com/office/powerpoint/2010/main" val="3113000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Social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Bridging the healthcare access gap for 500M+ Indians in tier-2/3 cities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6 / 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21945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4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2194560" cy="36576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463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64772"/>
                </a:solidFill>
                <a:latin typeface="Calibri"/>
              </a:defRPr>
            </a:pPr>
            <a:r>
              <a:t>500M+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82832"/>
                </a:solidFill>
                <a:latin typeface="Calibri"/>
              </a:defRPr>
            </a:pPr>
            <a:r>
              <a:t>Indians in tier-2/3</a:t>
            </a:r>
            <a:br/>
            <a:r>
              <a:t>cities lack quality</a:t>
            </a:r>
            <a:br/>
            <a:r>
              <a:t>healthcare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1371600"/>
            <a:ext cx="21945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97480" y="1371600"/>
            <a:ext cx="2194560" cy="36576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97480" y="1463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BA8D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103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82832"/>
                </a:solidFill>
                <a:latin typeface="Calibri"/>
              </a:defRPr>
            </a:pPr>
            <a:r>
              <a:t>Clinics still use</a:t>
            </a:r>
            <a:br/>
            <a:r>
              <a:t>paper registers</a:t>
            </a:r>
            <a:br/>
            <a:r>
              <a:t>and WhatsApp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371600"/>
            <a:ext cx="21945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1371600"/>
            <a:ext cx="2194560" cy="36576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0" y="1463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A01E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103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82832"/>
                </a:solidFill>
                <a:latin typeface="Calibri"/>
              </a:defRPr>
            </a:pPr>
            <a:r>
              <a:t>Average wait time</a:t>
            </a:r>
            <a:br/>
            <a:r>
              <a:t>in non-metro clinics</a:t>
            </a:r>
            <a:br/>
            <a:r>
              <a:t>vs metro hospitals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1371600"/>
            <a:ext cx="21945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60920" y="1371600"/>
            <a:ext cx="2194560" cy="36576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60920" y="1463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C3C3C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103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82832"/>
                </a:solidFill>
                <a:latin typeface="Calibri"/>
              </a:defRPr>
            </a:pPr>
            <a:r>
              <a:t>Average consultation</a:t>
            </a:r>
            <a:br/>
            <a:r>
              <a:t>delay due to poor</a:t>
            </a:r>
            <a:br/>
            <a:r>
              <a:t>queue management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1371600"/>
            <a:ext cx="21945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692640" y="1371600"/>
            <a:ext cx="2194560" cy="36576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92640" y="1463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C82B4"/>
                </a:solidFill>
                <a:latin typeface="Calibri"/>
              </a:defRPr>
            </a:pPr>
            <a:r>
              <a:t>2,100+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103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82832"/>
                </a:solidFill>
                <a:latin typeface="Calibri"/>
              </a:defRPr>
            </a:pPr>
            <a:r>
              <a:t>Clinics already in</a:t>
            </a:r>
            <a:br/>
            <a:r>
              <a:t>CatchQ database</a:t>
            </a:r>
            <a:br/>
            <a:r>
              <a:t>ready to onboard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4772"/>
                </a:solidFill>
                <a:latin typeface="Calibri"/>
              </a:defRPr>
            </a:pPr>
            <a:r>
              <a:t>IMPACT AREAS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11880"/>
            <a:ext cx="1371600" cy="36576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57200" y="3749039"/>
            <a:ext cx="54864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3749039"/>
            <a:ext cx="54864" cy="41148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0080" y="3813047"/>
            <a:ext cx="256032" cy="256032"/>
          </a:xfrm>
          <a:prstGeom prst="ellipse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3831335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379475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Healthcare 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3959351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2828C"/>
                </a:solidFill>
                <a:latin typeface="Calibri"/>
              </a:defRPr>
            </a:pPr>
            <a:r>
              <a:t>Makes quality clinic management affordable for small clinics in tier-2/3 cities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187951"/>
            <a:ext cx="54864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" y="4187951"/>
            <a:ext cx="54864" cy="4114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40080" y="4251959"/>
            <a:ext cx="256032" cy="256032"/>
          </a:xfrm>
          <a:prstGeom prst="ellipse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4270247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4233671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Digital India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4398263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2828C"/>
                </a:solidFill>
                <a:latin typeface="Calibri"/>
              </a:defRPr>
            </a:pPr>
            <a:r>
              <a:t>Transforms paper-based clinics to digital-first, aligned with government vision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626863"/>
            <a:ext cx="54864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7200" y="4626863"/>
            <a:ext cx="54864" cy="411480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40080" y="4690871"/>
            <a:ext cx="256032" cy="256032"/>
          </a:xfrm>
          <a:prstGeom prst="ellipse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" y="4709159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4672583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Patient Experience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837175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2828C"/>
                </a:solidFill>
                <a:latin typeface="Calibri"/>
              </a:defRPr>
            </a:pPr>
            <a:r>
              <a:t>Reduces wait times by 60%, eliminates paper prescriptions, enables digital payments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065775"/>
            <a:ext cx="54864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57200" y="5065775"/>
            <a:ext cx="54864" cy="41148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40080" y="5129783"/>
            <a:ext cx="256032" cy="256032"/>
          </a:xfrm>
          <a:prstGeom prst="ellipse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" y="5148071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" y="5111495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Doctor Efficiency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" y="5276087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2828C"/>
                </a:solidFill>
                <a:latin typeface="Calibri"/>
              </a:defRPr>
            </a:pPr>
            <a:r>
              <a:t>Automates queue, billing, scheduling - doctors see 30% more patients daily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504687"/>
            <a:ext cx="54864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57200" y="5504687"/>
            <a:ext cx="54864" cy="411480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40080" y="5568695"/>
            <a:ext cx="256032" cy="256032"/>
          </a:xfrm>
          <a:prstGeom prst="ellipse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080" y="5586983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" y="555040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Employment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" y="5714999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2828C"/>
                </a:solidFill>
                <a:latin typeface="Calibri"/>
              </a:defRPr>
            </a:pPr>
            <a:r>
              <a:t>Creates jobs: sales, support, development in tier-2 cities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5943599"/>
            <a:ext cx="54864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57200" y="5943599"/>
            <a:ext cx="54864" cy="411480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640080" y="6007607"/>
            <a:ext cx="256032" cy="256032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0080" y="6025895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" y="59893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Women Health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6153911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2828C"/>
                </a:solidFill>
                <a:latin typeface="Calibri"/>
              </a:defRPr>
            </a:pPr>
            <a:r>
              <a:t>Special modules for maternal care, menstrual tracking, women-only clinics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4772"/>
                </a:solidFill>
                <a:latin typeface="Calibri"/>
              </a:defRPr>
            </a:pPr>
            <a:r>
              <a:rPr dirty="0"/>
              <a:t>UN SDG ALIGNMENT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858000" y="3611880"/>
            <a:ext cx="1371600" cy="36576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6858000" y="3749039"/>
            <a:ext cx="5029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858000" y="3749039"/>
            <a:ext cx="54864" cy="50292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040880" y="3776471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BA8D"/>
                </a:solidFill>
                <a:latin typeface="Calibri"/>
              </a:defRPr>
            </a:pPr>
            <a:r>
              <a:t>SDG 3: Good Health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40880" y="397763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2828C"/>
                </a:solidFill>
                <a:latin typeface="Calibri"/>
              </a:defRPr>
            </a:pPr>
            <a:r>
              <a:t>Ensure healthy lives and promote well-being for all at all ages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858000" y="4297679"/>
            <a:ext cx="5029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858000" y="4297679"/>
            <a:ext cx="54864" cy="50292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040880" y="4325111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4772"/>
                </a:solidFill>
                <a:latin typeface="Calibri"/>
              </a:defRPr>
            </a:pPr>
            <a:r>
              <a:t>SDG 8: Decent Work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40880" y="45262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2828C"/>
                </a:solidFill>
                <a:latin typeface="Calibri"/>
              </a:defRPr>
            </a:pPr>
            <a:r>
              <a:t>Promote sustained, inclusive economic growth and decent work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858000" y="4846319"/>
            <a:ext cx="5029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858000" y="4846319"/>
            <a:ext cx="54864" cy="502920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040880" y="4873751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C82B4"/>
                </a:solidFill>
                <a:latin typeface="Calibri"/>
              </a:defRPr>
            </a:pPr>
            <a:r>
              <a:t>SDG 9: Innovation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40880" y="507491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2828C"/>
                </a:solidFill>
                <a:latin typeface="Calibri"/>
              </a:defRPr>
            </a:pPr>
            <a:r>
              <a:t>Build resilient infrastructure, promote inclusive industrialization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858000" y="5394959"/>
            <a:ext cx="5029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858000" y="5394959"/>
            <a:ext cx="54864" cy="50292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040880" y="5422391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A01E"/>
                </a:solidFill>
                <a:latin typeface="Calibri"/>
              </a:defRPr>
            </a:pPr>
            <a:r>
              <a:t>SDG 10: Reduced Inequality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40880" y="562355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2828C"/>
                </a:solidFill>
                <a:latin typeface="Calibri"/>
              </a:defRPr>
            </a:pPr>
            <a:r>
              <a:t>Reduce inequality within and among countries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858000" y="5943599"/>
            <a:ext cx="5029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6858000" y="5943599"/>
            <a:ext cx="54864" cy="502920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040880" y="5971031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C3CB4"/>
                </a:solidFill>
                <a:latin typeface="Calibri"/>
              </a:defRPr>
            </a:pPr>
            <a:r>
              <a:t>SDG 11: Sustainable Cities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40880" y="617219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2828C"/>
                </a:solidFill>
                <a:latin typeface="Calibri"/>
              </a:defRPr>
            </a:pPr>
            <a:r>
              <a:t>Make cities inclusive, safe, resilient and sustainable</a:t>
            </a:r>
          </a:p>
        </p:txBody>
      </p:sp>
    </p:spTree>
    <p:extLst>
      <p:ext uri="{BB962C8B-B14F-4D97-AF65-F5344CB8AC3E}">
        <p14:creationId xmlns:p14="http://schemas.microsoft.com/office/powerpoint/2010/main" val="2269600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Massive addressable market with clear product-market fit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11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64772"/>
                </a:solidFill>
                <a:latin typeface="Calibri"/>
              </a:defRPr>
            </a:pPr>
            <a:r>
              <a:t>INDIA  (PRIMARY MARKET)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1371600" cy="36576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2651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265176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14884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1BBA8D"/>
                </a:solidFill>
                <a:latin typeface="Calibri"/>
              </a:defRPr>
            </a:pPr>
            <a:r>
              <a:t>10 Lakh+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60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Clinics as total</a:t>
            </a:r>
          </a:p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addressable market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011680"/>
            <a:ext cx="2651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37560" y="2011680"/>
            <a:ext cx="2651760" cy="54864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60" y="214884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164772"/>
                </a:solidFill>
                <a:latin typeface="Calibri"/>
              </a:defRPr>
            </a:pPr>
            <a:r>
              <a:t>30,000+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560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Hospitals needing</a:t>
            </a:r>
          </a:p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bed management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011680"/>
            <a:ext cx="2651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2011680"/>
            <a:ext cx="2651760" cy="54864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214884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E6A01E"/>
                </a:solidFill>
                <a:latin typeface="Calibri"/>
              </a:defRPr>
            </a:pPr>
            <a:r>
              <a:t>Rs. 50K Cr+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560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Healthcare IT</a:t>
            </a:r>
          </a:p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market by 2028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011680"/>
            <a:ext cx="2651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98280" y="2011680"/>
            <a:ext cx="2651760" cy="54864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98280" y="214884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8C3CB4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560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Patients prefer</a:t>
            </a:r>
          </a:p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WhatsApp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2004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64772"/>
                </a:solidFill>
                <a:latin typeface="Calibri"/>
              </a:defRPr>
            </a:pPr>
            <a:r>
              <a:t>GLOBAL  (EXPANSION MARKET)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520440"/>
            <a:ext cx="1371600" cy="36576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57200" y="3749039"/>
            <a:ext cx="3474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3749039"/>
            <a:ext cx="347472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3886199"/>
            <a:ext cx="3474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1BBA8D"/>
                </a:solidFill>
                <a:latin typeface="Calibri"/>
              </a:defRPr>
            </a:pPr>
            <a:r>
              <a:t>$1.2 Billion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2976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Queue Management</a:t>
            </a:r>
          </a:p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Market by 2028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3749039"/>
            <a:ext cx="3474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97680" y="3749039"/>
            <a:ext cx="3474720" cy="54864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97680" y="3886199"/>
            <a:ext cx="3474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164772"/>
                </a:solidFill>
                <a:latin typeface="Calibri"/>
              </a:defRPr>
            </a:pPr>
            <a:r>
              <a:t>$8.4 Billion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42976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Clinic Management</a:t>
            </a:r>
          </a:p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Market by 2028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3749039"/>
            <a:ext cx="3474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38160" y="3749039"/>
            <a:ext cx="3474720" cy="54864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38160" y="3886199"/>
            <a:ext cx="3474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DC3C3C"/>
                </a:solidFill>
                <a:latin typeface="Calibri"/>
              </a:defRPr>
            </a:pPr>
            <a:r>
              <a:t>$45 Billion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2976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AI in Healthcare</a:t>
            </a:r>
          </a:p>
          <a:p>
            <a:pPr algn="ctr">
              <a:spcAft>
                <a:spcPts val="179"/>
              </a:spcAft>
              <a:defRPr sz="900" b="0">
                <a:solidFill>
                  <a:srgbClr val="82828C"/>
                </a:solidFill>
                <a:latin typeface="Calibri"/>
              </a:defRPr>
            </a:pPr>
            <a:r>
              <a:t>by 2030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9377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MARKET SIZING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212080"/>
            <a:ext cx="914400" cy="274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57200" y="5394960"/>
            <a:ext cx="365760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5413248"/>
            <a:ext cx="731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BA8D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5413248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282832"/>
                </a:solidFill>
                <a:latin typeface="Calibri"/>
              </a:defRPr>
            </a:pPr>
            <a:r>
              <a:t>Rs. 50,000 Cr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32760" y="54406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2828C"/>
                </a:solidFill>
                <a:latin typeface="Calibri"/>
              </a:defRPr>
            </a:pPr>
            <a:r>
              <a:t>Total clinic IT spend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51960" y="5394960"/>
            <a:ext cx="365760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43400" y="5413248"/>
            <a:ext cx="731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BA8D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413248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282832"/>
                </a:solidFill>
                <a:latin typeface="Calibri"/>
              </a:defRPr>
            </a:pPr>
            <a:r>
              <a:t>Rs. 5,000 Cr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54406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2828C"/>
                </a:solidFill>
                <a:latin typeface="Calibri"/>
              </a:defRPr>
            </a:pPr>
            <a:r>
              <a:t>SaaS-able segment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20" y="5394960"/>
            <a:ext cx="3657600" cy="4572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38160" y="5413248"/>
            <a:ext cx="731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BA8D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5413248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282832"/>
                </a:solidFill>
                <a:latin typeface="Calibri"/>
              </a:defRPr>
            </a:pPr>
            <a:r>
              <a:t>Rs. 500 Cr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98480" y="54406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2828C"/>
                </a:solidFill>
                <a:latin typeface="Calibri"/>
              </a:defRPr>
            </a:pPr>
            <a:r>
              <a:t>Year 3 target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TAM / SAM / SOM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Market sizing for CatchQ - Total Addressable, Serviceable, and Obtainable Market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4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63040"/>
            <a:ext cx="3657600" cy="4754880"/>
          </a:xfrm>
          <a:prstGeom prst="roundRect">
            <a:avLst/>
          </a:prstGeom>
          <a:solidFill>
            <a:srgbClr val="E6F2FF"/>
          </a:solidFill>
          <a:ln w="12700">
            <a:solidFill>
              <a:srgbClr val="164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3657600" cy="54864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TAM - Total Addressable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64772"/>
                </a:solidFill>
                <a:latin typeface="Calibri"/>
              </a:defRPr>
            </a:pPr>
            <a:r>
              <a:t>Rs. 50,000 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2828C"/>
                </a:solidFill>
                <a:latin typeface="Calibri"/>
              </a:defRPr>
            </a:pPr>
            <a:r>
              <a:t>Total clinic IT spend in India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26080"/>
            <a:ext cx="3200400" cy="27432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WHO: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10 Lakh+ clinics across India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30,000+ hospitals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50 Crore+ patients visiting annually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WHAT: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Queue management software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Patient engagement platform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Billing &amp; scheduling tools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Bed management systems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WHY: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90% clinics use paper/WhatsApp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Zero digital infrastructure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Massive inefficiency = massive opportunity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463040"/>
            <a:ext cx="3657600" cy="4754880"/>
          </a:xfrm>
          <a:prstGeom prst="roundRect">
            <a:avLst/>
          </a:prstGeom>
          <a:solidFill>
            <a:srgbClr val="F0F8F0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7680" y="1463040"/>
            <a:ext cx="3657600" cy="54864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SAM - Serviceable Addressable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BA8D"/>
                </a:solidFill>
                <a:latin typeface="Calibri"/>
              </a:defRPr>
            </a:pPr>
            <a:r>
              <a:t>Rs. 5,000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2828C"/>
                </a:solidFill>
                <a:latin typeface="Calibri"/>
              </a:defRPr>
            </a:pPr>
            <a:r>
              <a:t>SaaS-able segment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2926080"/>
            <a:ext cx="3200400" cy="274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31089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SEGMENT: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Clinics with 1-10 doctors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Urban &amp; semi-urban areas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Tech-ready practices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PRICING: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Starter: Rs. 2,999/month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Pro: Rs. 5,999/month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Enterprise: Rs. 9,999/month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CHANNELS: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WhatsApp-first onboarding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Free trial (14 days)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Referral program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463040"/>
            <a:ext cx="3657600" cy="4754880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E6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1463040"/>
            <a:ext cx="3657600" cy="54864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SOM - Serviceable Obtainable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A01E"/>
                </a:solidFill>
                <a:latin typeface="Calibri"/>
              </a:defRPr>
            </a:pPr>
            <a:r>
              <a:t>Rs. 500 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2828C"/>
                </a:solidFill>
                <a:latin typeface="Calibri"/>
              </a:defRPr>
            </a:pPr>
            <a:r>
              <a:t>Year 3 target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2926080"/>
            <a:ext cx="3200400" cy="27432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0" y="31089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YEAR 1: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50 clinics  |  Rs. 36L ARR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3 cities  |  5 team members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YEAR 2: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200 clinics  |  Rs. 1.8 Cr ARR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10 cities  |  15 team members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YEAR 3: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1,000 clinics  |  Rs. 9.6 Cr ARR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25 cities  |  40 team members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endParaRPr/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GROWTH: 60% YoY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RETENTION: 85%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82832"/>
                </a:solidFill>
                <a:latin typeface="Calibri"/>
              </a:defRPr>
            </a:pPr>
            <a:r>
              <a:t>LTV/CAC: 5x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Go-to-Market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WhatsApp-first acquisition targeting 50 clinics in Year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3 / 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5780" y="1463040"/>
            <a:ext cx="2834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4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5780" y="1463040"/>
            <a:ext cx="2834640" cy="54864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5780" y="14813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1: Month 1-3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780" y="17373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2940" y="2194560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2940" y="2194560"/>
            <a:ext cx="45720" cy="347472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0100" y="22402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Launch with 5 beta clinics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2940" y="2578608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2940" y="2578608"/>
            <a:ext cx="45720" cy="347472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0100" y="2624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IIT KGP alumni network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2940" y="2962656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2940" y="2962656"/>
            <a:ext cx="45720" cy="347472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0100" y="30083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Free 30-day trial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2940" y="3346704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2940" y="3346704"/>
            <a:ext cx="45720" cy="347472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0100" y="33924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WhatsApp onboarding 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2940" y="3730752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2940" y="3730752"/>
            <a:ext cx="45720" cy="347472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0100" y="37764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Collect NPS feedback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2940" y="4114800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2940" y="4114800"/>
            <a:ext cx="45720" cy="347472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0100" y="4160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Iterate on core features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0100" y="5303520"/>
            <a:ext cx="2286000" cy="411480"/>
          </a:xfrm>
          <a:prstGeom prst="round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0100" y="53218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TARGET: 10 Clinics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53300" y="1463040"/>
            <a:ext cx="2834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153300" y="1463040"/>
            <a:ext cx="2834640" cy="54864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53300" y="14813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2: Month 4-6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3300" y="17373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0460" y="2194560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90460" y="2194560"/>
            <a:ext cx="45720" cy="34747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27620" y="22402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Referral program (1 month free)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0460" y="2578608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290460" y="2578608"/>
            <a:ext cx="45720" cy="34747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27620" y="2624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IIT KGP incubator demo day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90460" y="2962656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290460" y="2962656"/>
            <a:ext cx="45720" cy="34747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27620" y="30083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Healthcare conferences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90460" y="3346704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290460" y="3346704"/>
            <a:ext cx="45720" cy="34747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27620" y="33924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Google Ads (clinic keywords)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90460" y="3730752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290460" y="3730752"/>
            <a:ext cx="45720" cy="34747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427620" y="37764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YouTube tutorials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90460" y="4114800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290460" y="4114800"/>
            <a:ext cx="45720" cy="34747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427620" y="4160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Case studies from beta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27620" y="5303520"/>
            <a:ext cx="2286000" cy="411480"/>
          </a:xfrm>
          <a:prstGeom prst="round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427620" y="53218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TARGET: 25 Clinics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70820" y="1463040"/>
            <a:ext cx="2834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170820" y="1463040"/>
            <a:ext cx="2834640" cy="548640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70820" y="14813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3: Month 7-9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0820" y="17373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Scaling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7980" y="2194560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307980" y="2194560"/>
            <a:ext cx="45720" cy="347472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45140" y="22402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Hire 2 sales executives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07980" y="2578608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307980" y="2578608"/>
            <a:ext cx="45720" cy="347472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45140" y="2624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Tier-2 city expansion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07980" y="2962656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307980" y="2962656"/>
            <a:ext cx="45720" cy="347472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45140" y="30083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WhatsApp broadcast campaigns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307980" y="3346704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307980" y="3346704"/>
            <a:ext cx="45720" cy="347472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45140" y="33924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Doctor association partnerships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307980" y="3730752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307980" y="3730752"/>
            <a:ext cx="45720" cy="347472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445140" y="37764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Insurance company tie-ups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307980" y="4114800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307980" y="4114800"/>
            <a:ext cx="45720" cy="347472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45140" y="4160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Government scheme integration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445140" y="5303520"/>
            <a:ext cx="2286000" cy="411480"/>
          </a:xfrm>
          <a:prstGeom prst="round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445140" y="53218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TARGET: 40 Clinics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188340" y="1463040"/>
            <a:ext cx="2834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9188340" y="1463040"/>
            <a:ext cx="2834640" cy="54864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188340" y="14813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4: Month 10-12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88340" y="17373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325500" y="2194560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9325500" y="2194560"/>
            <a:ext cx="45720" cy="347472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462660" y="22402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Channel partner program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325500" y="2578608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9325500" y="2578608"/>
            <a:ext cx="45720" cy="347472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462660" y="26243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Clinic chain partnerships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325500" y="2962656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9325500" y="2962656"/>
            <a:ext cx="45720" cy="347472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462660" y="30083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Media coverage (HealthTech)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325500" y="3346704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9325500" y="3346704"/>
            <a:ext cx="45720" cy="347472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462660" y="33924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Series A preparation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325500" y="3730752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9325500" y="3730752"/>
            <a:ext cx="45720" cy="347472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462660" y="37764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1000+ clinic waitlist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325500" y="4114800"/>
            <a:ext cx="2560320" cy="347472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9325500" y="4114800"/>
            <a:ext cx="45720" cy="347472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462660" y="4160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Product market fit confirmed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462660" y="5303520"/>
            <a:ext cx="2286000" cy="411480"/>
          </a:xfrm>
          <a:prstGeom prst="round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462660" y="53218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TARGET: 50+ Clinics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65760" y="6309360"/>
            <a:ext cx="11430000" cy="365760"/>
          </a:xfrm>
          <a:prstGeom prst="roundRect">
            <a:avLst/>
          </a:prstGeom>
          <a:solidFill>
            <a:srgbClr val="F0F8F0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4864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BA8D"/>
                </a:solidFill>
                <a:latin typeface="Calibri"/>
              </a:defRPr>
            </a:pPr>
            <a:r>
              <a:t>KEY CHANNELS:  WhatsApp Business API  |  Google Ads  |  IIT KGP Network  |  Doctor Referrals  |  Healthcare Events  |  YouTube</a:t>
            </a:r>
          </a:p>
        </p:txBody>
      </p:sp>
    </p:spTree>
    <p:extLst>
      <p:ext uri="{BB962C8B-B14F-4D97-AF65-F5344CB8AC3E}">
        <p14:creationId xmlns:p14="http://schemas.microsoft.com/office/powerpoint/2010/main" val="3770369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Multiple revenue streams for sustainable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10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3474720" cy="182880"/>
          </a:xfrm>
          <a:prstGeom prst="rect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282832"/>
                </a:solidFill>
                <a:latin typeface="Calibri"/>
              </a:defRPr>
            </a:pPr>
            <a: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82828C"/>
                </a:solidFill>
                <a:latin typeface="Calibri"/>
              </a:defRPr>
            </a:pPr>
            <a:r>
              <a:t>Rs. 2,999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2828C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3108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2828C"/>
                </a:solidFill>
                <a:latin typeface="Calibri"/>
              </a:defRPr>
            </a:pPr>
            <a:r>
              <a:t>For small clinics</a:t>
            </a:r>
            <a:br/>
            <a:r>
              <a:t>(1-2 doctors)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2926080" cy="18288"/>
          </a:xfrm>
          <a:prstGeom prst="rect">
            <a:avLst/>
          </a:prstGeom>
          <a:solidFill>
            <a:srgbClr val="8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033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WhatsApp booking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59352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5935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Up to 2 doctors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1538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215384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Basic queue mgmt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71416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71416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Digital receipts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27448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274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Email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8348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834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Mobile app access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146304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97680" y="1463040"/>
            <a:ext cx="3474720" cy="18288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303520" y="1234440"/>
            <a:ext cx="1463040" cy="320040"/>
          </a:xfrm>
          <a:prstGeom prst="round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0" y="125272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MOST POPULAR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178308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282832"/>
                </a:solidFill>
                <a:latin typeface="Calibri"/>
              </a:defRPr>
            </a:pPr>
            <a:r>
              <a:t>Professional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219456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1BBA8D"/>
                </a:solidFill>
                <a:latin typeface="Calibri"/>
              </a:defRPr>
            </a:pPr>
            <a:r>
              <a:t>Rs. 5,999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26517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2828C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2971800"/>
            <a:ext cx="3108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2828C"/>
                </a:solidFill>
                <a:latin typeface="Calibri"/>
              </a:defRPr>
            </a:pPr>
            <a:r>
              <a:t>For growing clinics</a:t>
            </a:r>
            <a:br/>
            <a:r>
              <a:t>(3-5 doctors)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566160"/>
            <a:ext cx="2926080" cy="18288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0" y="370332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37033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Everything in Starter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959352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95935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Up to 5 doctors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421538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215384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Smart TV display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4471416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4471416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Advanced analytics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727448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47274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Auto reminders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498348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0" y="49834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Priority support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146304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138160" y="1463040"/>
            <a:ext cx="3474720" cy="1828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29600" y="178308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282832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219456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164772"/>
                </a:solidFill>
                <a:latin typeface="Calibri"/>
              </a:defRPr>
            </a:pPr>
            <a:r>
              <a:t>Rs. 9,999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26517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2828C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2971800"/>
            <a:ext cx="3108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2828C"/>
                </a:solidFill>
                <a:latin typeface="Calibri"/>
              </a:defRPr>
            </a:pPr>
            <a:r>
              <a:t>For hospitals</a:t>
            </a:r>
            <a:br/>
            <a:r>
              <a:t>&amp; chain clinics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12480" y="3566160"/>
            <a:ext cx="2926080" cy="18288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412480" y="370332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37033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Everything in Pro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3959352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395935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Unlimited doctors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421538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4215384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Multi-location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12480" y="4471416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4471416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API access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0" y="4727448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47274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Dedicated manager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0" y="498348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49834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82832"/>
                </a:solidFill>
                <a:latin typeface="Calibri"/>
              </a:defRPr>
            </a:pPr>
            <a:r>
              <a:t>24/7 phone support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343525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REVENUE STREAMS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5617845"/>
            <a:ext cx="1097280" cy="274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457200" y="5709285"/>
            <a:ext cx="2194560" cy="7772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57200" y="5709285"/>
            <a:ext cx="2194560" cy="109728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48640" y="5846445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BBA8D"/>
                </a:solidFill>
                <a:latin typeface="Calibri"/>
              </a:defRPr>
            </a:pPr>
            <a:r>
              <a:t>SaaS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6075045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Monthly subscriptions</a:t>
            </a:r>
            <a:br/>
            <a:r>
              <a:t>(recurring revenue)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801368" y="5846445"/>
            <a:ext cx="758952" cy="201168"/>
          </a:xfrm>
          <a:prstGeom prst="round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801368" y="5855589"/>
            <a:ext cx="7589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PRIMARY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743200" y="5709285"/>
            <a:ext cx="2194560" cy="7772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2743200" y="5709285"/>
            <a:ext cx="2194560" cy="109728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834640" y="5846445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64772"/>
                </a:solidFill>
                <a:latin typeface="Calibri"/>
              </a:defRPr>
            </a:pPr>
            <a:r>
              <a:t>TXN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34640" y="6075045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1-2% per payment</a:t>
            </a:r>
            <a:br/>
            <a:r>
              <a:t>transaction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087368" y="5846445"/>
            <a:ext cx="758952" cy="201168"/>
          </a:xfrm>
          <a:prstGeom prst="round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087368" y="5855589"/>
            <a:ext cx="7589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PER TXN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029200" y="5709285"/>
            <a:ext cx="2194560" cy="7772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5029200" y="5709285"/>
            <a:ext cx="2194560" cy="109728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20640" y="5846445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8C3CB4"/>
                </a:solidFill>
                <a:latin typeface="Calibri"/>
              </a:defRPr>
            </a:pPr>
            <a:r>
              <a:t>Pharmacy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20640" y="6075045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5-10% commission</a:t>
            </a:r>
            <a:br/>
            <a:r>
              <a:t>on medicine orders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26481" y="5846445"/>
            <a:ext cx="1005839" cy="201168"/>
          </a:xfrm>
          <a:prstGeom prst="round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126481" y="5855589"/>
            <a:ext cx="1005839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COMMISSION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315200" y="5709285"/>
            <a:ext cx="2194560" cy="7772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7315200" y="5709285"/>
            <a:ext cx="2194560" cy="109728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406640" y="5846445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DC3C3C"/>
                </a:solidFill>
                <a:latin typeface="Calibri"/>
              </a:defRPr>
            </a:pPr>
            <a:r>
              <a:t>AI Add-on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06640" y="6075045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Rs. 999/month</a:t>
            </a:r>
            <a:br/>
            <a:r>
              <a:t>premium AI features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741664" y="5846445"/>
            <a:ext cx="676656" cy="201168"/>
          </a:xfrm>
          <a:prstGeom prst="round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741664" y="5855589"/>
            <a:ext cx="6766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ADD-ON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601200" y="5709285"/>
            <a:ext cx="2194560" cy="7772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9601200" y="5709285"/>
            <a:ext cx="2194560" cy="109728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692640" y="5846445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3C82B4"/>
                </a:solidFill>
                <a:latin typeface="Calibri"/>
              </a:defRPr>
            </a:pPr>
            <a:r>
              <a:t>Bed Module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692640" y="6075045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Rs. 4,999/month</a:t>
            </a:r>
            <a:br/>
            <a:r>
              <a:t>hospital bed tracking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1027664" y="5846445"/>
            <a:ext cx="676656" cy="201168"/>
          </a:xfrm>
          <a:prstGeom prst="round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1027664" y="5855589"/>
            <a:ext cx="6766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MODULE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Sustainable SaaS metrics with strong LTV/CAC ratio and healthy margins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4 / 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1828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1828800" cy="36576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Customer Acquisition</a:t>
            </a:r>
            <a:br/>
            <a:r>
              <a:t>Cost (CAC)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BA8D"/>
                </a:solidFill>
                <a:latin typeface="Calibri"/>
              </a:defRPr>
            </a:pPr>
            <a:r>
              <a:t>Rs. 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2828C"/>
                </a:solidFill>
                <a:latin typeface="Calibri"/>
              </a:defRPr>
            </a:pPr>
            <a:r>
              <a:t>Blended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1463040"/>
            <a:ext cx="1828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4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86000" y="1463040"/>
            <a:ext cx="1828800" cy="36576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8600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Lifetime Value</a:t>
            </a:r>
            <a:br/>
            <a:r>
              <a:t>(LTV)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4772"/>
                </a:solidFill>
                <a:latin typeface="Calibri"/>
              </a:defRPr>
            </a:pPr>
            <a:r>
              <a:t>Rs. 1,80,000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2828C"/>
                </a:solidFill>
                <a:latin typeface="Calibri"/>
              </a:defRPr>
            </a:pPr>
            <a:r>
              <a:t>36-month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1463040"/>
            <a:ext cx="1828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06240" y="1463040"/>
            <a:ext cx="1828800" cy="36576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0624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LTV / CAC</a:t>
            </a:r>
            <a:br/>
            <a:r>
              <a:t>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A01E"/>
                </a:solidFill>
                <a:latin typeface="Calibri"/>
              </a:defRPr>
            </a:pPr>
            <a:r>
              <a:t>36x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2828C"/>
                </a:solidFill>
                <a:latin typeface="Calibri"/>
              </a:defRPr>
            </a:pPr>
            <a:r>
              <a:t>Target: &gt;3x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1463040"/>
            <a:ext cx="1828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26480" y="1463040"/>
            <a:ext cx="1828800" cy="36576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8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Payback</a:t>
            </a:r>
            <a:br/>
            <a:r>
              <a:t>Period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C82B4"/>
                </a:solidFill>
                <a:latin typeface="Calibri"/>
              </a:defRPr>
            </a:pPr>
            <a:r>
              <a:t>2 months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2828C"/>
                </a:solidFill>
                <a:latin typeface="Calibri"/>
              </a:defRPr>
            </a:pPr>
            <a:r>
              <a:t>Target: &lt;12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1463040"/>
            <a:ext cx="1828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C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46720" y="1463040"/>
            <a:ext cx="1828800" cy="36576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Monthly Churn</a:t>
            </a:r>
            <a:br/>
            <a:r>
              <a:t>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C3CB4"/>
                </a:solidFill>
                <a:latin typeface="Calibri"/>
              </a:defRPr>
            </a:pPr>
            <a:r>
              <a:t>3.5%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2828C"/>
                </a:solidFill>
                <a:latin typeface="Calibri"/>
              </a:defRPr>
            </a:pPr>
            <a:r>
              <a:t>Target: &lt;5%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60" y="1463040"/>
            <a:ext cx="1828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966960" y="1463040"/>
            <a:ext cx="1828800" cy="36576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6696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Gross</a:t>
            </a:r>
            <a:br/>
            <a:r>
              <a:t>Margin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C3C3C"/>
                </a:solidFill>
                <a:latin typeface="Calibri"/>
              </a:defRPr>
            </a:pPr>
            <a:r>
              <a:t>82%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2828C"/>
                </a:solidFill>
                <a:latin typeface="Calibri"/>
              </a:defRPr>
            </a:pPr>
            <a:r>
              <a:t>Target: &gt;70%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4772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520440"/>
            <a:ext cx="1371600" cy="36576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57200" y="3657600"/>
            <a:ext cx="5029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3657600"/>
            <a:ext cx="54864" cy="50292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40080" y="3730752"/>
            <a:ext cx="731520" cy="320040"/>
          </a:xfrm>
          <a:prstGeom prst="round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" y="3749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54480" y="36850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SaaS Subscription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54480" y="391363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Rs. 2,999-9,999/mo per clinic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4206240"/>
            <a:ext cx="5029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57200" y="4206240"/>
            <a:ext cx="54864" cy="502920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40080" y="4279392"/>
            <a:ext cx="731520" cy="320040"/>
          </a:xfrm>
          <a:prstGeom prst="round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" y="4297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54480" y="42336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Transaction Fees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54480" y="44622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2% on billing through platform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4754880"/>
            <a:ext cx="5029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57200" y="4754880"/>
            <a:ext cx="54864" cy="50292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40080" y="4828032"/>
            <a:ext cx="731520" cy="320040"/>
          </a:xfrm>
          <a:prstGeom prst="round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80" y="4846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54480" y="47823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Premium Features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54480" y="501091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AI analytics, advanced reports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303520"/>
            <a:ext cx="5029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57200" y="5303520"/>
            <a:ext cx="54864" cy="502920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640080" y="5376672"/>
            <a:ext cx="731520" cy="320040"/>
          </a:xfrm>
          <a:prstGeom prst="round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0080" y="5394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54480" y="53309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2832"/>
                </a:solidFill>
                <a:latin typeface="Calibri"/>
              </a:defRPr>
            </a:pPr>
            <a:r>
              <a:t>API &amp; Integrations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54480" y="55595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2828C"/>
                </a:solidFill>
                <a:latin typeface="Calibri"/>
              </a:defRPr>
            </a:pPr>
            <a:r>
              <a:t>Third-party plugin marketplace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4772"/>
                </a:solidFill>
                <a:latin typeface="Calibri"/>
              </a:defRPr>
            </a:pPr>
            <a:r>
              <a:t>CAC BREAKDOWN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520440"/>
            <a:ext cx="1371600" cy="36576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400800" y="3657600"/>
            <a:ext cx="50292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400800" y="3657600"/>
            <a:ext cx="54864" cy="457200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8686800" y="3749040"/>
            <a:ext cx="822959" cy="274320"/>
          </a:xfrm>
          <a:prstGeom prst="round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583680" y="368503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WhatsApp Ads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0" y="38862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C82B4"/>
                </a:solidFill>
                <a:latin typeface="Calibri"/>
              </a:defRPr>
            </a:pPr>
            <a:r>
              <a:t>Rs. 1,500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1199" y="3749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C82B4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00800" y="4160520"/>
            <a:ext cx="50292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400800" y="4160520"/>
            <a:ext cx="54864" cy="45720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8686800" y="4251960"/>
            <a:ext cx="658368" cy="274320"/>
          </a:xfrm>
          <a:prstGeom prst="round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583680" y="41879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Google Ads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0" y="43891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4772"/>
                </a:solidFill>
                <a:latin typeface="Calibri"/>
              </a:defRPr>
            </a:pPr>
            <a:r>
              <a:t>Rs. 1,200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36608" y="4251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4772"/>
                </a:solidFill>
                <a:latin typeface="Calibri"/>
              </a:defRPr>
            </a:pPr>
            <a:r>
              <a:t>24%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400800" y="4663440"/>
            <a:ext cx="50292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400800" y="4663440"/>
            <a:ext cx="54864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8686800" y="4754880"/>
            <a:ext cx="548640" cy="274320"/>
          </a:xfrm>
          <a:prstGeom prst="round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583680" y="469087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Sales Team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0" y="48920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BA8D"/>
                </a:solidFill>
                <a:latin typeface="Calibri"/>
              </a:defRPr>
            </a:pPr>
            <a:r>
              <a:t>Rs. 1,000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BA8D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0800" y="5166360"/>
            <a:ext cx="50292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6400800" y="5166360"/>
            <a:ext cx="54864" cy="45720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8686800" y="5257800"/>
            <a:ext cx="438912" cy="274320"/>
          </a:xfrm>
          <a:prstGeom prst="round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583680" y="519379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Content Marketing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83680" y="53949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A01E"/>
                </a:solidFill>
                <a:latin typeface="Calibri"/>
              </a:defRPr>
            </a:pPr>
            <a:r>
              <a:t>Rs. 800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17152" y="5257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A01E"/>
                </a:solidFill>
                <a:latin typeface="Calibri"/>
              </a:defRPr>
            </a:pPr>
            <a:r>
              <a:t>16%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400800" y="5669280"/>
            <a:ext cx="50292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6400800" y="5669280"/>
            <a:ext cx="54864" cy="457200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8686800" y="5760720"/>
            <a:ext cx="274320" cy="274320"/>
          </a:xfrm>
          <a:prstGeom prst="round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583680" y="569671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Events/Demos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83680" y="5897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C3CB4"/>
                </a:solidFill>
                <a:latin typeface="Calibri"/>
              </a:defRPr>
            </a:pPr>
            <a:r>
              <a:t>Rs. 500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052560" y="5760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C3CB4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5760" y="6209604"/>
            <a:ext cx="11162330" cy="292608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E6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48640" y="62094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A01E"/>
                </a:solidFill>
                <a:latin typeface="Calibri"/>
              </a:defRPr>
            </a:pPr>
            <a:r>
              <a:rPr dirty="0"/>
              <a:t>KEY INSIGHT: WhatsApp-first acquisition cuts CAC by 60% vs traditional sales  |  Referral program drives 40% of new clinics  |  82% gross margin enables aggressive growth</a:t>
            </a:r>
          </a:p>
        </p:txBody>
      </p:sp>
    </p:spTree>
    <p:extLst>
      <p:ext uri="{BB962C8B-B14F-4D97-AF65-F5344CB8AC3E}">
        <p14:creationId xmlns:p14="http://schemas.microsoft.com/office/powerpoint/2010/main" val="1899491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Revenue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Conservative estimates based on market benchmarks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16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4772"/>
                </a:solidFill>
                <a:latin typeface="Calibri"/>
              </a:defRPr>
            </a:pPr>
            <a:r>
              <a:t>YEAR 1 PROJECTIONS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1371600" cy="36576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182880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BA8D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Clinics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201168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377440" y="2011680"/>
            <a:ext cx="1828800" cy="54864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7744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4772"/>
                </a:solidFill>
                <a:latin typeface="Calibri"/>
              </a:defRPr>
            </a:pPr>
            <a:r>
              <a:t>Rs. 3L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MRR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01168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97680" y="2011680"/>
            <a:ext cx="1828800" cy="54864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A01E"/>
                </a:solidFill>
                <a:latin typeface="Calibri"/>
              </a:defRPr>
            </a:pPr>
            <a:r>
              <a:t>Rs. 36L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ARR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01168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2011680"/>
            <a:ext cx="1828800" cy="54864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C3CB4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Growth Rate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201168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60" y="2011680"/>
            <a:ext cx="1828800" cy="54864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3816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C82B4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Retention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201168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058400" y="2011680"/>
            <a:ext cx="1828800" cy="54864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3C3C"/>
                </a:solidFill>
                <a:latin typeface="Calibri"/>
              </a:defRPr>
            </a:pPr>
            <a:r>
              <a:t>Rs. 7.2L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2828C"/>
                </a:solidFill>
                <a:latin typeface="Calibri"/>
              </a:defRPr>
            </a:pPr>
            <a:r>
              <a:t>Avg/Clinic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4772"/>
                </a:solidFill>
                <a:latin typeface="Calibri"/>
              </a:defRPr>
            </a:pPr>
            <a:r>
              <a:t>3-YEAR FINANCIAL PROJECTIONS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291840"/>
            <a:ext cx="1371600" cy="274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3493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3493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493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3493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886200"/>
            <a:ext cx="11247120" cy="36576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Clinics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200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1,000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3159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MRR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4315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Rs. 3L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315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Rs. 15L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4315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Rs. 80L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654296"/>
            <a:ext cx="11247120" cy="36576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" y="47000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ARR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0" y="47000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Rs. 36L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7000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Rs. 1.8 Cr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47000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Rs. 9.6 Cr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0840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Team Size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0" y="50840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50840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50840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422392"/>
            <a:ext cx="11247120" cy="365760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0080" y="54681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2832"/>
                </a:solidFill>
                <a:latin typeface="Calibri"/>
              </a:defRPr>
            </a:pPr>
            <a:r>
              <a:t>Cities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0" y="5468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5468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0" y="5468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82832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65760" y="5943600"/>
            <a:ext cx="11430000" cy="457200"/>
          </a:xfrm>
          <a:prstGeom prst="roundRect">
            <a:avLst/>
          </a:prstGeom>
          <a:solidFill>
            <a:srgbClr val="E6F2FF"/>
          </a:solidFill>
          <a:ln w="12700">
            <a:solidFill>
              <a:srgbClr val="164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864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4772"/>
                </a:solidFill>
                <a:latin typeface="Calibri"/>
              </a:defRPr>
            </a:pPr>
            <a:r>
              <a:t>Conservative estimates. Based on Rs. 5,999 avg subscription, 85% retention, 60% YoY growth.</a:t>
            </a:r>
          </a:p>
        </p:txBody>
      </p:sp>
    </p:spTree>
    <p:extLst>
      <p:ext uri="{BB962C8B-B14F-4D97-AF65-F5344CB8AC3E}">
        <p14:creationId xmlns:p14="http://schemas.microsoft.com/office/powerpoint/2010/main" val="2697822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Detailed allocation of Rs. 30-35 Lakhs seed fund - every rupee mapped to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2 / 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371600"/>
            <a:ext cx="3017520" cy="822960"/>
          </a:xfrm>
          <a:prstGeom prst="round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C8E6"/>
                </a:solidFill>
                <a:latin typeface="Calibri"/>
              </a:defRPr>
            </a:pPr>
            <a:r>
              <a:t>TOTAL SEED FUND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Rs. 30-35 Lakhs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468880"/>
            <a:ext cx="21945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468880"/>
            <a:ext cx="2194560" cy="45720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48716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Product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6974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063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BA8D"/>
                </a:solidFill>
                <a:latin typeface="Calibri"/>
              </a:defRPr>
            </a:pPr>
            <a:r>
              <a:t>Rs. 12-14L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83280"/>
            <a:ext cx="1828800" cy="2743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520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  Backend engineer (2): Rs. 8L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76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  Frontend/Android (1): Rs. 4L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0325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  Cloud infra (AWS): Rs. 1.5L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885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  AI/ML development: Rs. 1L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97480" y="2468880"/>
            <a:ext cx="21945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97480" y="2468880"/>
            <a:ext cx="2194560" cy="457200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97480" y="248716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Sales &amp; Marketing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26974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3063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C82B4"/>
                </a:solidFill>
                <a:latin typeface="Calibri"/>
              </a:defRPr>
            </a:pPr>
            <a:r>
              <a:t>Rs. 7.5-9L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3383280"/>
            <a:ext cx="1828800" cy="27432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880360" y="3520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  WhatsApp marketing: Rs. 3L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3776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  Sales team (2): Rs. 4L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0325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  Content &amp; branding: Rs. 1L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42885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  Events &amp; demos: Rs. 1L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2468880"/>
            <a:ext cx="21945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29200" y="2468880"/>
            <a:ext cx="2194560" cy="45720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0" y="248716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26974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3063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A01E"/>
                </a:solidFill>
                <a:latin typeface="Calibri"/>
              </a:defRPr>
            </a:pPr>
            <a:r>
              <a:t>Rs. 4.5-5L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12080" y="3383280"/>
            <a:ext cx="1828800" cy="27432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12080" y="3520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  Office space: Rs. 2L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3776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  Legal &amp; compliance: Rs. 0.5L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40325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  Accounting: Rs. 0.5L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42885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  Misc ops: Rs. 1L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60920" y="2468880"/>
            <a:ext cx="21945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C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360920" y="2468880"/>
            <a:ext cx="2194560" cy="457200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60920" y="248716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Contingency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20" y="26974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3063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C3CB4"/>
                </a:solidFill>
                <a:latin typeface="Calibri"/>
              </a:defRPr>
            </a:pPr>
            <a:r>
              <a:t>Rs. 3-3.5L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43800" y="3383280"/>
            <a:ext cx="1828800" cy="27432"/>
          </a:xfrm>
          <a:prstGeom prst="rect">
            <a:avLst/>
          </a:prstGeom>
          <a:solidFill>
            <a:srgbClr val="8C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543800" y="3520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  Emergency fund: Rs. 2L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43800" y="3776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  Opportunity fund: Rs. 1L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40325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  Market pivot: Rs. 0.5L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92640" y="2468880"/>
            <a:ext cx="21945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692640" y="2468880"/>
            <a:ext cx="2194560" cy="457200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2640" y="248716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Working Capital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26974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3063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C3C3C"/>
                </a:solidFill>
                <a:latin typeface="Calibri"/>
              </a:defRPr>
            </a:pPr>
            <a:r>
              <a:t>Rs. 3-3.5L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75520" y="3383280"/>
            <a:ext cx="1828800" cy="27432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875520" y="3520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  Cash buffer: Rs. 2L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0" y="3776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  Vendor payments: Rs. 1L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0" y="40325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  Insurance: Rs. 0.5L</a:t>
            </a:r>
          </a:p>
        </p:txBody>
      </p:sp>
    </p:spTree>
    <p:extLst>
      <p:ext uri="{BB962C8B-B14F-4D97-AF65-F5344CB8AC3E}">
        <p14:creationId xmlns:p14="http://schemas.microsoft.com/office/powerpoint/2010/main" val="894878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Scalability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From 50 to 1,000+ clinics - proven playbook with clear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9 / 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4252" y="1371600"/>
            <a:ext cx="2834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4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54252" y="1371600"/>
            <a:ext cx="2834640" cy="6400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4252" y="13898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STAGE 1</a:t>
            </a:r>
            <a:br/>
            <a:r>
              <a:t>Seed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252" y="17373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Month 1-6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132" y="2194560"/>
            <a:ext cx="2468880" cy="73152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8572" y="2240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4772"/>
                </a:solidFill>
                <a:latin typeface="Calibri"/>
              </a:defRPr>
            </a:pPr>
            <a:r>
              <a:t>50 Clinics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572" y="2560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82832"/>
                </a:solidFill>
                <a:latin typeface="Calibri"/>
              </a:defRPr>
            </a:pPr>
            <a:r>
              <a:t>Rs. 36L ARR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572" y="27432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2828C"/>
                </a:solidFill>
                <a:latin typeface="Calibri"/>
              </a:defRPr>
            </a:pPr>
            <a:r>
              <a:t>Annual Recurring Revenue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1412" y="3108960"/>
            <a:ext cx="2560320" cy="3200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91412" y="3108960"/>
            <a:ext cx="45720" cy="32004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8572" y="3154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IIT KGP network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1412" y="3474720"/>
            <a:ext cx="2560320" cy="3200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91412" y="3474720"/>
            <a:ext cx="45720" cy="32004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8572" y="3520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WhatsApp direct outreach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1412" y="3840480"/>
            <a:ext cx="2560320" cy="3200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91412" y="3840480"/>
            <a:ext cx="45720" cy="32004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8572" y="3886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Free trial conversion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1412" y="4206240"/>
            <a:ext cx="2560320" cy="3200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91412" y="4206240"/>
            <a:ext cx="45720" cy="32004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8572" y="4251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Manual onboarding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1412" y="4572000"/>
            <a:ext cx="2560320" cy="3200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91412" y="4572000"/>
            <a:ext cx="45720" cy="32004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8572" y="4617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Founder-led sales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572" y="5120640"/>
            <a:ext cx="2286000" cy="411480"/>
          </a:xfrm>
          <a:prstGeom prst="round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8572" y="51389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50 clinics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71772" y="1371600"/>
            <a:ext cx="2834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171772" y="1371600"/>
            <a:ext cx="2834640" cy="64008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71772" y="13898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STAGE 2</a:t>
            </a:r>
            <a:br/>
            <a:r>
              <a:t>Series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71772" y="17373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Month 7-18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54652" y="2194560"/>
            <a:ext cx="2468880" cy="73152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46092" y="2240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BA8D"/>
                </a:solidFill>
                <a:latin typeface="Calibri"/>
              </a:defRPr>
            </a:pPr>
            <a:r>
              <a:t>200 Clinics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46092" y="2560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82832"/>
                </a:solidFill>
                <a:latin typeface="Calibri"/>
              </a:defRPr>
            </a:pPr>
            <a:r>
              <a:t>Rs. 1.8 Cr ARR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46092" y="27432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2828C"/>
                </a:solidFill>
                <a:latin typeface="Calibri"/>
              </a:defRPr>
            </a:pPr>
            <a:r>
              <a:t>Annual Recurring Revenue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08932" y="3108960"/>
            <a:ext cx="2560320" cy="3200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308932" y="3108960"/>
            <a:ext cx="45720" cy="32004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46092" y="3154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Sales team (5 people)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08932" y="3474720"/>
            <a:ext cx="2560320" cy="3200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308932" y="3474720"/>
            <a:ext cx="45720" cy="32004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46092" y="3520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Channel partners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08932" y="3840480"/>
            <a:ext cx="2560320" cy="3200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308932" y="3840480"/>
            <a:ext cx="45720" cy="32004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46092" y="3886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Automated onboarding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08932" y="4206240"/>
            <a:ext cx="2560320" cy="3200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308932" y="4206240"/>
            <a:ext cx="45720" cy="32004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446092" y="4251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Referral program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08932" y="4572000"/>
            <a:ext cx="2560320" cy="3200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308932" y="4572000"/>
            <a:ext cx="45720" cy="32004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446092" y="4617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Content marketing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446092" y="5120640"/>
            <a:ext cx="2286000" cy="411480"/>
          </a:xfrm>
          <a:prstGeom prst="round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446092" y="51389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200 clinics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89292" y="1371600"/>
            <a:ext cx="2834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C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189292" y="1371600"/>
            <a:ext cx="2834640" cy="640080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189292" y="13898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STAGE 3</a:t>
            </a:r>
            <a:br/>
            <a:r>
              <a:t>Series 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89292" y="17373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Month 19-36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72172" y="2194560"/>
            <a:ext cx="2468880" cy="73152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63612" y="2240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C82B4"/>
                </a:solidFill>
                <a:latin typeface="Calibri"/>
              </a:defRPr>
            </a:pPr>
            <a:r>
              <a:t>1,000 Clinics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63612" y="2560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82832"/>
                </a:solidFill>
                <a:latin typeface="Calibri"/>
              </a:defRPr>
            </a:pPr>
            <a:r>
              <a:t>Rs. 9.6 Cr ARR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63612" y="27432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2828C"/>
                </a:solidFill>
                <a:latin typeface="Calibri"/>
              </a:defRPr>
            </a:pPr>
            <a:r>
              <a:t>Annual Recurring Revenue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26452" y="3108960"/>
            <a:ext cx="2560320" cy="3200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326452" y="3108960"/>
            <a:ext cx="45720" cy="320040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63612" y="3154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National expansion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326452" y="3474720"/>
            <a:ext cx="2560320" cy="3200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326452" y="3474720"/>
            <a:ext cx="45720" cy="320040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63612" y="3520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Enterprise chains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326452" y="3840480"/>
            <a:ext cx="2560320" cy="3200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326452" y="3840480"/>
            <a:ext cx="45720" cy="320040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463612" y="3886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API marketplace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326452" y="4206240"/>
            <a:ext cx="2560320" cy="3200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326452" y="4206240"/>
            <a:ext cx="45720" cy="320040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63612" y="4251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International (SE Asia)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326452" y="4572000"/>
            <a:ext cx="2560320" cy="3200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326452" y="4572000"/>
            <a:ext cx="45720" cy="320040"/>
          </a:xfrm>
          <a:prstGeom prst="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463612" y="4617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AI diagnostics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63612" y="5120640"/>
            <a:ext cx="2286000" cy="411480"/>
          </a:xfrm>
          <a:prstGeom prst="roundRect">
            <a:avLst/>
          </a:prstGeom>
          <a:solidFill>
            <a:srgbClr val="3C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463612" y="51389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1,000 clinics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206812" y="1371600"/>
            <a:ext cx="2834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9206812" y="1371600"/>
            <a:ext cx="2834640" cy="64008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206812" y="13898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STAGE 4</a:t>
            </a:r>
            <a:br/>
            <a:r>
              <a:t>IPO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06812" y="17373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Year 3-5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389692" y="2194560"/>
            <a:ext cx="2468880" cy="73152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481132" y="2240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A01E"/>
                </a:solidFill>
                <a:latin typeface="Calibri"/>
              </a:defRPr>
            </a:pPr>
            <a:r>
              <a:t>5,000+ Clinics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481132" y="2560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82832"/>
                </a:solidFill>
                <a:latin typeface="Calibri"/>
              </a:defRPr>
            </a:pPr>
            <a:r>
              <a:t>Rs. 50 Cr ARR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481132" y="27432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2828C"/>
                </a:solidFill>
                <a:latin typeface="Calibri"/>
              </a:defRPr>
            </a:pPr>
            <a:r>
              <a:t>Annual Recurring Revenue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343972" y="3108960"/>
            <a:ext cx="2560320" cy="3200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9343972" y="3108960"/>
            <a:ext cx="45720" cy="32004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481132" y="3154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Platform ecosystem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343972" y="3474720"/>
            <a:ext cx="2560320" cy="3200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9343972" y="3474720"/>
            <a:ext cx="45720" cy="32004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481132" y="3520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Insurance integration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343972" y="3840480"/>
            <a:ext cx="2560320" cy="3200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9343972" y="3840480"/>
            <a:ext cx="45720" cy="32004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9481132" y="3886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Health data marketplace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343972" y="4206240"/>
            <a:ext cx="2560320" cy="3200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9343972" y="4206240"/>
            <a:ext cx="45720" cy="32004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481132" y="4251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Govt partnerships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343972" y="4572000"/>
            <a:ext cx="2560320" cy="32004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9343972" y="4572000"/>
            <a:ext cx="45720" cy="32004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481132" y="4617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Global expansion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481132" y="5120640"/>
            <a:ext cx="2286000" cy="411480"/>
          </a:xfrm>
          <a:prstGeom prst="round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481132" y="51389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5,000+ clinics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65760" y="6217920"/>
            <a:ext cx="11430000" cy="365760"/>
          </a:xfrm>
          <a:prstGeom prst="roundRect">
            <a:avLst/>
          </a:prstGeom>
          <a:solidFill>
            <a:srgbClr val="F0F8F0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48640" y="62362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BA8D"/>
                </a:solidFill>
                <a:latin typeface="Calibri"/>
              </a:defRPr>
            </a:pPr>
            <a:r>
              <a:t>SCALABILITY:  WhatsApp-first = zero marginal cost  |  Modular SaaS = easy expansion  |  Data network effects  |  Platform ecosystem at scale</a:t>
            </a:r>
          </a:p>
        </p:txBody>
      </p:sp>
    </p:spTree>
    <p:extLst>
      <p:ext uri="{BB962C8B-B14F-4D97-AF65-F5344CB8AC3E}">
        <p14:creationId xmlns:p14="http://schemas.microsoft.com/office/powerpoint/2010/main" val="7409467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Risk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Key risks identified with mitigation strategies - showing maturity and preparedness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7 / 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371600"/>
            <a:ext cx="3749039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3749039" cy="411480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38988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435608"/>
            <a:ext cx="100584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40" y="144475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C3C3C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828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RISK: Practo, ClinicEase have funding &amp; brand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194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BBA8D"/>
                </a:solidFill>
                <a:latin typeface="Calibri"/>
              </a:defRPr>
            </a:pPr>
            <a:r>
              <a:t>MITIGATION: Differentiate on WhatsApp-first, price, and all-in-one. Win on tier-2/3 where they are weak.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371600"/>
            <a:ext cx="3749039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06240" y="1371600"/>
            <a:ext cx="3749039" cy="41148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138988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Customer Churn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1435608"/>
            <a:ext cx="100584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144475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6A01E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828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RISK: Clinics may not adopt digital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194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BBA8D"/>
                </a:solidFill>
                <a:latin typeface="Calibri"/>
              </a:defRPr>
            </a:pPr>
            <a:r>
              <a:t>MITIGATION: WhatsApp onboarding (zero learning curve). Free trial. Dedicated support. Show ROI in 2 weeks.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371600"/>
            <a:ext cx="3749039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8160" y="1371600"/>
            <a:ext cx="3749039" cy="41148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0" y="138988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Technical Scalability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98480" y="1435608"/>
            <a:ext cx="100584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98480" y="144475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6A01E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1828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RISK: System must handle 1000+ concurrent clinics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194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BBA8D"/>
                </a:solidFill>
                <a:latin typeface="Calibri"/>
              </a:defRPr>
            </a:pPr>
            <a:r>
              <a:t>MITIGATION: Cloud-native (AWS). Auto-scaling. Load testing. Modular architecture.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3840480"/>
            <a:ext cx="3749039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4320" y="3840480"/>
            <a:ext cx="3749039" cy="41148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4320" y="38587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Regulatory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34640" y="3904488"/>
            <a:ext cx="100584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34640" y="39136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BBA8D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297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RISK: Healthcare data privacy (ABDM compliance)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663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BBA8D"/>
                </a:solidFill>
                <a:latin typeface="Calibri"/>
              </a:defRPr>
            </a:pPr>
            <a:r>
              <a:t>MITIGATION: Build ABDM-compliant from Day 1. Data encryption. Regular audits.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06240" y="3840480"/>
            <a:ext cx="3749039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206240" y="3840480"/>
            <a:ext cx="3749039" cy="411480"/>
          </a:xfrm>
          <a:prstGeom prst="rect">
            <a:avLst/>
          </a:prstGeom>
          <a:solidFill>
            <a:srgbClr val="E6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06240" y="38587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Team Risk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66560" y="3904488"/>
            <a:ext cx="100584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66560" y="39136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6A01E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4297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RISK: Key person dependency in early stage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0" y="4663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BBA8D"/>
                </a:solidFill>
                <a:latin typeface="Calibri"/>
              </a:defRPr>
            </a:pPr>
            <a:r>
              <a:t>MITIGATION: Document everything. Cross-train team. Hire 2nd backend dev in Month 2.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3840480"/>
            <a:ext cx="3749039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138160" y="3840480"/>
            <a:ext cx="3749039" cy="41148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138160" y="38587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Market Timing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698480" y="3904488"/>
            <a:ext cx="100584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698480" y="39136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BBA8D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4297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82832"/>
                </a:solidFill>
                <a:latin typeface="Calibri"/>
              </a:defRPr>
            </a:pPr>
            <a:r>
              <a:t>RISK: Clinics may not be ready for digital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4663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BBA8D"/>
                </a:solidFill>
                <a:latin typeface="Calibri"/>
              </a:defRPr>
            </a:pPr>
            <a:r>
              <a:t>MITIGATION: WhatsApp is already used by 90% of clinics. We are digitizing existing behavior, not creating new.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65760" y="6217920"/>
            <a:ext cx="11430000" cy="274320"/>
          </a:xfrm>
          <a:prstGeom prst="roundRect">
            <a:avLst/>
          </a:prstGeom>
          <a:solidFill>
            <a:srgbClr val="F0F8F0"/>
          </a:solidFill>
          <a:ln w="12700">
            <a:solidFill>
              <a:srgbClr val="1BB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48640" y="62362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BA8D"/>
                </a:solidFill>
                <a:latin typeface="Calibri"/>
              </a:defRPr>
            </a:pPr>
            <a:r>
              <a:t>RISK MANAGEMENT:  Monthly review  |  Contingency fund (10%)  |  Agile pivots  |  Diverse revenue streams  |  Strong unit economics</a:t>
            </a:r>
          </a:p>
        </p:txBody>
      </p:sp>
    </p:spTree>
    <p:extLst>
      <p:ext uri="{BB962C8B-B14F-4D97-AF65-F5344CB8AC3E}">
        <p14:creationId xmlns:p14="http://schemas.microsoft.com/office/powerpoint/2010/main" val="29678129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C8E6"/>
                </a:solidFill>
                <a:latin typeface="Calibri"/>
              </a:defRPr>
            </a:pPr>
            <a:r>
              <a:t>The people building India clinic operating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8CA0B4"/>
                </a:solidFill>
                <a:latin typeface="Calibri"/>
              </a:defRPr>
            </a:pPr>
            <a:r>
              <a:t>CatchQ  |  IIT Kharagpur Platinum Jubilee Seed Fund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5624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8CA0B4"/>
                </a:solidFill>
                <a:latin typeface="Calibri"/>
              </a:defRPr>
            </a:pPr>
            <a:r>
              <a:t>12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" y="164592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64772"/>
                </a:solidFill>
                <a:latin typeface="Calibri"/>
              </a:defRPr>
            </a:pPr>
            <a:r>
              <a:rPr lang="en-IN" dirty="0"/>
              <a:t>CATCHQ TEAM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2960252" y="2286000"/>
            <a:ext cx="29260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60252" y="2286000"/>
            <a:ext cx="2926080" cy="182880"/>
          </a:xfrm>
          <a:prstGeom prst="rect">
            <a:avLst/>
          </a:prstGeom>
          <a:solidFill>
            <a:srgbClr val="164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51692" y="323088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282832"/>
                </a:solidFill>
                <a:latin typeface="Calibri"/>
              </a:defRPr>
            </a:pPr>
            <a:r>
              <a:rPr lang="en-IN" dirty="0"/>
              <a:t>Harsh</a:t>
            </a:r>
          </a:p>
          <a:p>
            <a:pPr algn="ctr">
              <a:defRPr sz="1300" b="1">
                <a:solidFill>
                  <a:srgbClr val="282832"/>
                </a:solidFill>
                <a:latin typeface="Calibri"/>
              </a:defRPr>
            </a:pP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3143133" y="355092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2828C"/>
                </a:solidFill>
                <a:latin typeface="Calibri"/>
              </a:defRPr>
            </a:pPr>
            <a:r>
              <a:rPr lang="en-IN" dirty="0"/>
              <a:t>5</a:t>
            </a:r>
            <a:r>
              <a:rPr lang="en-IN" baseline="30000" dirty="0"/>
              <a:t>TH</a:t>
            </a:r>
            <a:r>
              <a:rPr lang="en-IN" dirty="0"/>
              <a:t> YEAR UG STUDENT FROM THE DEPARTMENT OF METALLURLY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6252092" y="2286000"/>
            <a:ext cx="29260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52092" y="2286000"/>
            <a:ext cx="2926080" cy="18288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43532" y="327105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282832"/>
                </a:solidFill>
                <a:latin typeface="Calibri"/>
              </a:defRPr>
            </a:pPr>
            <a:r>
              <a:rPr lang="en-IN" dirty="0"/>
              <a:t>Shubham Kumar</a:t>
            </a:r>
            <a:endParaRPr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9D06EA-7CC9-CA90-28B0-6DAA111CCEAE}"/>
              </a:ext>
            </a:extLst>
          </p:cNvPr>
          <p:cNvSpPr txBox="1"/>
          <p:nvPr/>
        </p:nvSpPr>
        <p:spPr>
          <a:xfrm>
            <a:off x="6434971" y="3586481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2828C"/>
                </a:solidFill>
                <a:latin typeface="Calibri"/>
              </a:defRPr>
            </a:pPr>
            <a:r>
              <a:rPr lang="en-IN" dirty="0"/>
              <a:t>5</a:t>
            </a:r>
            <a:r>
              <a:rPr lang="en-IN" baseline="30000" dirty="0"/>
              <a:t>TH</a:t>
            </a:r>
            <a:r>
              <a:rPr lang="en-IN" dirty="0"/>
              <a:t> YEAR UG STUDENT FROM THE DEPARTMENT OF ARCHITECTURE</a:t>
            </a:r>
            <a:endParaRPr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F278E22-252D-4456-28AE-0F0597853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735" y="1474588"/>
            <a:ext cx="1122359" cy="77371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7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E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14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-914400"/>
            <a:ext cx="2286000" cy="2286000"/>
          </a:xfrm>
          <a:prstGeom prst="ellipse">
            <a:avLst/>
          </a:prstGeom>
          <a:solidFill>
            <a:srgbClr val="194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2743200" cy="137160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To become India's 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Clinic &amp; Hospital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Operating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120640"/>
            <a:ext cx="3657600" cy="54864"/>
          </a:xfrm>
          <a:prstGeom prst="rect">
            <a:avLst/>
          </a:prstGeom>
          <a:solidFill>
            <a:srgbClr val="1BB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ED2E6"/>
                </a:solidFill>
                <a:latin typeface="Calibri"/>
              </a:defRPr>
            </a:pPr>
            <a:r>
              <a:t>Making healthcare accessible by eliminating appointment friction,</a:t>
            </a:r>
            <a:br/>
            <a:r>
              <a:t>enabling AI-assisted diagnosis, connecting pharmacies to patients,</a:t>
            </a:r>
            <a:br/>
            <a:r>
              <a:t>and managing hospital beds efficiently - for 10 Lakh+ clinics</a:t>
            </a:r>
            <a:br/>
            <a:r>
              <a:t>and 50 Crore+ patients.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008376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BBA8D"/>
                </a:solidFill>
                <a:latin typeface="Calibri"/>
              </a:defRPr>
            </a:pPr>
            <a:r>
              <a:rPr dirty="0"/>
              <a:t>Healthcare shouldn't start with waiting.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655" y="3328416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BBA8D"/>
                </a:solidFill>
                <a:latin typeface="Calibri"/>
              </a:defRPr>
            </a:pPr>
            <a:r>
              <a:rPr dirty="0"/>
              <a:t>It should start with </a:t>
            </a:r>
            <a:r>
              <a:rPr dirty="0" err="1"/>
              <a:t>CatchQ</a:t>
            </a:r>
            <a:r>
              <a:rPr dirty="0"/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6751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88CA0"/>
                </a:solidFill>
                <a:latin typeface="Calibri"/>
              </a:defRPr>
            </a:pPr>
            <a:r>
              <a:rPr dirty="0"/>
              <a:t>IIT Kharagpur Platinum Jubilee Seed Fund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C55E9FD-023D-B3BC-C83E-0EDE2668B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725" y="1126837"/>
            <a:ext cx="1626515" cy="112125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4602BB6-E2F1-B2EF-25D0-C8EEB3F22520}"/>
              </a:ext>
            </a:extLst>
          </p:cNvPr>
          <p:cNvSpPr txBox="1"/>
          <p:nvPr/>
        </p:nvSpPr>
        <p:spPr>
          <a:xfrm>
            <a:off x="1740342" y="1971852"/>
            <a:ext cx="1021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CATCHQ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4625</Words>
  <Application>Microsoft Office PowerPoint</Application>
  <PresentationFormat>Widescreen</PresentationFormat>
  <Paragraphs>1153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Shubham kumar</cp:lastModifiedBy>
  <cp:revision>18</cp:revision>
  <dcterms:created xsi:type="dcterms:W3CDTF">2013-01-27T09:14:16Z</dcterms:created>
  <dcterms:modified xsi:type="dcterms:W3CDTF">2026-06-10T06:38:36Z</dcterms:modified>
  <cp:category/>
</cp:coreProperties>
</file>