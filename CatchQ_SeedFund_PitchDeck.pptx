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64" r:id="rId10"/>
    <p:sldId id="270" r:id="rId11"/>
    <p:sldId id="265" r:id="rId12"/>
    <p:sldId id="271" r:id="rId13"/>
    <p:sldId id="266" r:id="rId14"/>
    <p:sldId id="272" r:id="rId15"/>
    <p:sldId id="268" r:id="rId16"/>
    <p:sldId id="267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2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7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870448"/>
            <a:ext cx="12191695" cy="73152"/>
          </a:xfrm>
          <a:prstGeom prst="rect">
            <a:avLst/>
          </a:prstGeom>
          <a:solidFill>
            <a:srgbClr val="14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5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0" y="4114800"/>
            <a:ext cx="3200400" cy="3200400"/>
          </a:xfrm>
          <a:prstGeom prst="ellipse">
            <a:avLst/>
          </a:prstGeom>
          <a:solidFill>
            <a:srgbClr val="14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0" y="-457200"/>
            <a:ext cx="1828800" cy="1828800"/>
          </a:xfrm>
          <a:prstGeom prst="ellipse">
            <a:avLst/>
          </a:prstGeom>
          <a:solidFill>
            <a:srgbClr val="19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CATCHQ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BA8D"/>
                </a:solidFill>
                <a:latin typeface="Calibri"/>
              </a:defRPr>
            </a:pPr>
            <a:r>
              <a:t>India's Clinic &amp; Hospital Operating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22860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8DCF0"/>
                </a:solidFill>
                <a:latin typeface="Calibri"/>
              </a:defRPr>
            </a:pPr>
            <a:r>
              <a:t>WhatsApp booking, AI-powered diagnosis, real-time queue management,</a:t>
            </a:r>
            <a:br/>
            <a:r>
              <a:t>digital billing, pharmacy integration, and hospital bed tracking</a:t>
            </a:r>
            <a:br/>
            <a:r>
              <a:t>- all in one platform for India's 10 Lakh+ clinics.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Platinum Jubilee Seed Fund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1" y="42976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4C8DC"/>
                </a:solidFill>
                <a:latin typeface="Calibri"/>
              </a:defRPr>
            </a:pPr>
            <a:r>
              <a:rPr dirty="0"/>
              <a:t>IIT Kharagpur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CATCHQ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8F0DC"/>
                </a:solidFill>
                <a:latin typeface="Calibri"/>
              </a:defRPr>
            </a:pPr>
            <a:r>
              <a:t>Healthcare shouldn't start with waiting. It should start with CatchQ.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India manages healthcare with WhatsApp messages, phone calls, and paper registers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73152" cy="219456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1600200"/>
            <a:ext cx="365760" cy="365760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6184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6002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DC3C3C"/>
                </a:solidFill>
                <a:latin typeface="Calibri"/>
              </a:defRPr>
            </a:pPr>
            <a:r>
              <a:t>Missed 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0312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Clinics lose 30-40% of bookings</a:t>
            </a:r>
            <a:br/>
            <a:r>
              <a:t>to missed phone calls during</a:t>
            </a:r>
            <a:br/>
            <a:r>
              <a:t>consultation hours. No voicemail.</a:t>
            </a:r>
            <a:br/>
            <a:r>
              <a:t>No callback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46304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0" y="1463040"/>
            <a:ext cx="73152" cy="2194560"/>
          </a:xfrm>
          <a:prstGeom prst="rect">
            <a:avLst/>
          </a:prstGeom>
          <a:solidFill>
            <a:srgbClr val="C87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29000" y="1600200"/>
            <a:ext cx="365760" cy="365760"/>
          </a:xfrm>
          <a:prstGeom prst="ellipse">
            <a:avLst/>
          </a:prstGeom>
          <a:solidFill>
            <a:srgbClr val="C87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16184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16002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8781E"/>
                </a:solidFill>
                <a:latin typeface="Calibri"/>
              </a:defRPr>
            </a:pPr>
            <a:r>
              <a:t>No Digital 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10312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90% of Indian clinics have no</a:t>
            </a:r>
            <a:br/>
            <a:r>
              <a:t>online booking. Patients must</a:t>
            </a:r>
            <a:br/>
            <a:r>
              <a:t>call during business hours</a:t>
            </a:r>
            <a:br/>
            <a:r>
              <a:t>or walk in and wait.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463040"/>
            <a:ext cx="73152" cy="2194560"/>
          </a:xfrm>
          <a:prstGeom prst="rect">
            <a:avLst/>
          </a:prstGeom>
          <a:solidFill>
            <a:srgbClr val="A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55080" y="1600200"/>
            <a:ext cx="365760" cy="365760"/>
          </a:xfrm>
          <a:prstGeom prst="ellipse">
            <a:avLst/>
          </a:prstGeom>
          <a:solidFill>
            <a:srgbClr val="A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16184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16002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A050A0"/>
                </a:solidFill>
                <a:latin typeface="Calibri"/>
              </a:defRPr>
            </a:pPr>
            <a:r>
              <a:t>Zero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0312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Patients have no idea how long</a:t>
            </a:r>
            <a:br/>
            <a:r>
              <a:t>the wait is. They call repeatedly</a:t>
            </a:r>
            <a:br/>
            <a:r>
              <a:t>or arrive early and waste</a:t>
            </a:r>
            <a:br/>
            <a:r>
              <a:t>hours in the waiting room.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46304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4000" y="1463040"/>
            <a:ext cx="73152" cy="219456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281160" y="1600200"/>
            <a:ext cx="365760" cy="365760"/>
          </a:xfrm>
          <a:prstGeom prst="ellipse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60" y="16184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16002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646478"/>
                </a:solidFill>
                <a:latin typeface="Calibri"/>
              </a:defRPr>
            </a:pPr>
            <a:r>
              <a:t>Paper 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10312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Patient history on paper.</a:t>
            </a:r>
            <a:br/>
            <a:r>
              <a:t>Lab reports via WhatsApp.</a:t>
            </a:r>
            <a:br/>
            <a:r>
              <a:t>No digital trail. No analytics.</a:t>
            </a:r>
            <a:br/>
            <a:r>
              <a:t>Prescriptions lost.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02336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4023360"/>
            <a:ext cx="73152" cy="219456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02920" y="4160520"/>
            <a:ext cx="365760" cy="365760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17880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1605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DC3C3C"/>
                </a:solidFill>
                <a:latin typeface="Calibri"/>
              </a:defRPr>
            </a:pPr>
            <a:r>
              <a:t>No-Show Crisis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66344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40% of booked appointments</a:t>
            </a:r>
            <a:br/>
            <a:r>
              <a:t>result in no-shows. Clinics</a:t>
            </a:r>
            <a:br/>
            <a:r>
              <a:t>lose Rs. 2-5 Lakh monthly</a:t>
            </a:r>
            <a:br/>
            <a:r>
              <a:t>with zero recovery mechanism.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1840" y="402336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91840" y="4023360"/>
            <a:ext cx="73152" cy="2194560"/>
          </a:xfrm>
          <a:prstGeom prst="rect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429000" y="4160520"/>
            <a:ext cx="365760" cy="365760"/>
          </a:xfrm>
          <a:prstGeom prst="ellipse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29000" y="417880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41605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B48C3C"/>
                </a:solidFill>
                <a:latin typeface="Calibri"/>
              </a:defRPr>
            </a:pPr>
            <a:r>
              <a:t>Billing Chaos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466344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Manual billing. Cash-only.</a:t>
            </a:r>
            <a:br/>
            <a:r>
              <a:t>No insurance integration.</a:t>
            </a:r>
            <a:br/>
            <a:r>
              <a:t>Patients get no digital</a:t>
            </a:r>
            <a:br/>
            <a:r>
              <a:t>receipt or summary.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02336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17920" y="4023360"/>
            <a:ext cx="73152" cy="2194560"/>
          </a:xfrm>
          <a:prstGeom prst="rect">
            <a:avLst/>
          </a:prstGeom>
          <a:solidFill>
            <a:srgbClr val="64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355080" y="4160520"/>
            <a:ext cx="365760" cy="365760"/>
          </a:xfrm>
          <a:prstGeom prst="ellipse">
            <a:avLst/>
          </a:prstGeom>
          <a:solidFill>
            <a:srgbClr val="64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55080" y="417880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41605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648CB4"/>
                </a:solidFill>
                <a:latin typeface="Calibri"/>
              </a:defRPr>
            </a:pPr>
            <a:r>
              <a:t>Staff Overload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466344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Reception spends 60% of time</a:t>
            </a:r>
            <a:br/>
            <a:r>
              <a:t>on phone calls, confirmations,</a:t>
            </a:r>
            <a:br/>
            <a:r>
              <a:t>and scheduling. Zero time</a:t>
            </a:r>
            <a:br/>
            <a:r>
              <a:t>for patient care.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402336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0" y="4023360"/>
            <a:ext cx="73152" cy="2194560"/>
          </a:xfrm>
          <a:prstGeom prst="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281160" y="4160520"/>
            <a:ext cx="365760" cy="365760"/>
          </a:xfrm>
          <a:prstGeom prst="ellipse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81160" y="417880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60" y="41605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82828C"/>
                </a:solidFill>
                <a:latin typeface="Calibri"/>
              </a:defRPr>
            </a:pPr>
            <a:r>
              <a:t>Zero Intelligence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466344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No patient analytics. No</a:t>
            </a:r>
            <a:br/>
            <a:r>
              <a:t>predictive insights. No</a:t>
            </a:r>
            <a:br/>
            <a:r>
              <a:t>automated follow-ups.</a:t>
            </a:r>
            <a:br/>
            <a:r>
              <a:t>Clinics run blind.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6471" y="6286500"/>
            <a:ext cx="11153170" cy="214884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17535" y="6254496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DC3C3C"/>
                </a:solidFill>
                <a:latin typeface="Calibri"/>
              </a:defRPr>
            </a:pPr>
            <a:r>
              <a:rPr dirty="0"/>
              <a:t>Impact: Indian clinics lose Rs. 5-10 Lakh per doctor per year to operational inefficiency. 10 Lakh+ clinics = Rs. 50,000 Cr+ addressable market.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CatchQ replaces 7 disconnected tools with one unified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895" y="1286346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64772"/>
                </a:solidFill>
                <a:latin typeface="Calibri"/>
              </a:defRPr>
            </a:pPr>
            <a:r>
              <a:t>CLINIC SIDE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895" y="1652106"/>
            <a:ext cx="1371600" cy="36576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8895" y="1834986"/>
            <a:ext cx="5029200" cy="4572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8895" y="1834986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775" y="1880706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WhatsApp Booking 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8895" y="2365338"/>
            <a:ext cx="5029200" cy="4572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8895" y="2365338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775" y="241105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8895" y="2895690"/>
            <a:ext cx="5029200" cy="4572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8895" y="2895690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775" y="294141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Real-time Queue 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8895" y="3426042"/>
            <a:ext cx="5029200" cy="4572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8895" y="3426042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775" y="3471762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Smart TV Display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8895" y="3956394"/>
            <a:ext cx="5029200" cy="4572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8895" y="3956394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1775" y="4002114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Digital Billing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895" y="4486746"/>
            <a:ext cx="5029200" cy="4572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8895" y="4486746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775" y="4532466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Doctor Scheduling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8895" y="5017098"/>
            <a:ext cx="5029200" cy="4572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8895" y="5017098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775" y="506281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Patient 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9615" y="1286346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BA8D"/>
                </a:solidFill>
                <a:latin typeface="Calibri"/>
              </a:defRPr>
            </a:pPr>
            <a:r>
              <a:t>PATIENT SIDE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9615" y="1652106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239615" y="1834986"/>
            <a:ext cx="530352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39615" y="1834986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22495" y="188070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WhatsApp Booking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9615" y="2365338"/>
            <a:ext cx="530352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39615" y="2365338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22495" y="2411058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Mobile App (iOS/Android)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9615" y="2895690"/>
            <a:ext cx="530352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39615" y="289569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22495" y="294141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Real-time Queue Position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9615" y="3426042"/>
            <a:ext cx="530352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39615" y="3426042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22495" y="3471762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Digital Receipt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9615" y="3956394"/>
            <a:ext cx="530352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39615" y="3956394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22495" y="4002114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Lab Report AI Analysis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9615" y="4486746"/>
            <a:ext cx="530352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39615" y="4486746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22495" y="453246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Follow-up Reminders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943600"/>
            <a:ext cx="11430000" cy="36576"/>
          </a:xfrm>
          <a:prstGeom prst="rect">
            <a:avLst/>
          </a:prstGeom>
          <a:solidFill>
            <a:srgbClr val="E6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60350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82828C"/>
                </a:solidFill>
                <a:latin typeface="Calibri"/>
              </a:defRPr>
            </a:pPr>
            <a:r>
              <a:t>STACK: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71600" y="5989320"/>
            <a:ext cx="1371600" cy="32004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417320" y="6016752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82828C"/>
                </a:solidFill>
                <a:latin typeface="Calibri"/>
              </a:defRPr>
            </a:pPr>
            <a:r>
              <a:t>Next.js 15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834640" y="5989320"/>
            <a:ext cx="932688" cy="32004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880360" y="6016752"/>
            <a:ext cx="8412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82828C"/>
                </a:solidFill>
                <a:latin typeface="Calibri"/>
              </a:defRPr>
            </a:pPr>
            <a:r>
              <a:t>NestJS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58768" y="5989320"/>
            <a:ext cx="1591056" cy="32004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904488" y="6016752"/>
            <a:ext cx="149961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82828C"/>
                </a:solidFill>
                <a:latin typeface="Calibri"/>
              </a:defRPr>
            </a:pPr>
            <a:r>
              <a:t>React Native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41264" y="5989320"/>
            <a:ext cx="1152144" cy="32004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86984" y="6016752"/>
            <a:ext cx="1060704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82828C"/>
                </a:solidFill>
                <a:latin typeface="Calibri"/>
              </a:defRPr>
            </a:pPr>
            <a:r>
              <a:t>Firebase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784848" y="5989320"/>
            <a:ext cx="1261872" cy="32004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830568" y="6016752"/>
            <a:ext cx="11704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82828C"/>
                </a:solidFill>
                <a:latin typeface="Calibri"/>
              </a:defRPr>
            </a:pPr>
            <a:r>
              <a:t>Socket.io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38160" y="5989320"/>
            <a:ext cx="1371600" cy="32004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183880" y="6016752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82828C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01200" y="5989320"/>
            <a:ext cx="1152144" cy="32004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46920" y="6016752"/>
            <a:ext cx="1060704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82828C"/>
                </a:solidFill>
                <a:latin typeface="Calibri"/>
              </a:defRPr>
            </a:pPr>
            <a:r>
              <a:t>Tailwind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3314" y="5567800"/>
            <a:ext cx="11430000" cy="32004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721608" y="56007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rPr dirty="0"/>
              <a:t>7 core problems, 1 unified solution. Every feature is already built and operational.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Full-stack system built for scale, security, and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3474720" cy="22860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PATIENT TOUCHPOINTS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1097280" cy="27432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" y="2011680"/>
            <a:ext cx="320040" cy="32004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03911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01168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WhatsApp 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21284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Book via chat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423160"/>
            <a:ext cx="320040" cy="320040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45059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423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62432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11 screens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2834640"/>
            <a:ext cx="320040" cy="32004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86207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8346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Web 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03580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Landing page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3246120"/>
            <a:ext cx="320040" cy="320040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27355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2461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Walk-in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44728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Clinic kiosk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1463040"/>
            <a:ext cx="3657600" cy="2286000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BACKEND 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1874519"/>
            <a:ext cx="1097280" cy="27432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480560" y="2011680"/>
            <a:ext cx="320040" cy="320040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60" y="203911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201168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NestJS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221284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6 modules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2423160"/>
            <a:ext cx="320040" cy="32004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80560" y="245059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2423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Firebase Auth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262432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JWT + OTP</a:t>
            </a:r>
          </a:p>
        </p:txBody>
      </p:sp>
      <p:sp>
        <p:nvSpPr>
          <p:cNvPr id="39" name="Oval 38"/>
          <p:cNvSpPr/>
          <p:nvPr/>
        </p:nvSpPr>
        <p:spPr>
          <a:xfrm>
            <a:off x="4480560" y="2834640"/>
            <a:ext cx="320040" cy="32004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0560" y="286207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28346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Socket.io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303580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43" name="Oval 42"/>
          <p:cNvSpPr/>
          <p:nvPr/>
        </p:nvSpPr>
        <p:spPr>
          <a:xfrm>
            <a:off x="4480560" y="3246120"/>
            <a:ext cx="320040" cy="320040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80560" y="327355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32461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344728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7 tables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1463040"/>
            <a:ext cx="3474720" cy="2286000"/>
          </a:xfrm>
          <a:prstGeom prst="round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1248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1874519"/>
            <a:ext cx="1097280" cy="27432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503920" y="2011680"/>
            <a:ext cx="320040" cy="32004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03920" y="203911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201168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Queue Management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221284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Live updates</a:t>
            </a:r>
          </a:p>
        </p:txBody>
      </p:sp>
      <p:sp>
        <p:nvSpPr>
          <p:cNvPr id="54" name="Oval 53"/>
          <p:cNvSpPr/>
          <p:nvPr/>
        </p:nvSpPr>
        <p:spPr>
          <a:xfrm>
            <a:off x="8503920" y="2423160"/>
            <a:ext cx="320040" cy="320040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03920" y="245059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2423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Billing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262432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Auto-invoice</a:t>
            </a:r>
          </a:p>
        </p:txBody>
      </p:sp>
      <p:sp>
        <p:nvSpPr>
          <p:cNvPr id="58" name="Oval 57"/>
          <p:cNvSpPr/>
          <p:nvPr/>
        </p:nvSpPr>
        <p:spPr>
          <a:xfrm>
            <a:off x="8503920" y="2834640"/>
            <a:ext cx="320040" cy="32004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03920" y="286207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400" y="28346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AI Analytics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15400" y="303580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Smart insights</a:t>
            </a:r>
          </a:p>
        </p:txBody>
      </p:sp>
      <p:sp>
        <p:nvSpPr>
          <p:cNvPr id="62" name="Oval 61"/>
          <p:cNvSpPr/>
          <p:nvPr/>
        </p:nvSpPr>
        <p:spPr>
          <a:xfrm>
            <a:off x="8503920" y="3246120"/>
            <a:ext cx="320040" cy="320040"/>
          </a:xfrm>
          <a:prstGeom prst="ellipse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03920" y="327355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15400" y="32461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Bed Tracking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15400" y="344728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39319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206240"/>
            <a:ext cx="109728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457200" y="4389120"/>
            <a:ext cx="1463040" cy="347472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2920" y="4416552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Next.js 15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011680" y="4389120"/>
            <a:ext cx="1024128" cy="347472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057400" y="4416552"/>
            <a:ext cx="93268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NestJS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127248" y="4389120"/>
            <a:ext cx="1682495" cy="347472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172968" y="4416552"/>
            <a:ext cx="1591055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React Native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901183" y="4389120"/>
            <a:ext cx="1243584" cy="347472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46903" y="4416552"/>
            <a:ext cx="1152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Firebase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36207" y="4389120"/>
            <a:ext cx="1353312" cy="347472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81927" y="4416552"/>
            <a:ext cx="126187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Socket.io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680959" y="4389120"/>
            <a:ext cx="1463040" cy="347472"/>
          </a:xfrm>
          <a:prstGeom prst="round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726679" y="4416552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235439" y="4389120"/>
            <a:ext cx="1243584" cy="347472"/>
          </a:xfrm>
          <a:prstGeom prst="round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281159" y="4416552"/>
            <a:ext cx="1152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Tailwind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570463" y="4389120"/>
            <a:ext cx="1463040" cy="347472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616183" y="4416552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235438" y="4873752"/>
            <a:ext cx="1243585" cy="347472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281159" y="4915662"/>
            <a:ext cx="126187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Python AI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570463" y="4884801"/>
            <a:ext cx="1463040" cy="347472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515218" y="4930140"/>
            <a:ext cx="1591055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WhatsApp API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49377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PLATFORM SCALE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5212080"/>
            <a:ext cx="109728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457200" y="5394960"/>
            <a:ext cx="1828800" cy="59436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57200" y="541324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64772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5715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377440" y="5394960"/>
            <a:ext cx="1828800" cy="59436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377440" y="541324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BBA8D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377440" y="5715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Frontend Pages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297680" y="5394960"/>
            <a:ext cx="1828800" cy="59436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297680" y="541324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E6A01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97680" y="5715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Mobile Screens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217920" y="5394960"/>
            <a:ext cx="1828800" cy="59436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217920" y="541324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8C3CB4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17920" y="5715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138160" y="5394960"/>
            <a:ext cx="1828800" cy="59436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138160" y="541324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3C82B4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138160" y="5715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Landing Parts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058400" y="5394960"/>
            <a:ext cx="1828800" cy="59436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058400" y="541324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DC3C3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58400" y="5715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Backend Modules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8-step patient journey from booking to pharmacy refill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5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2468880" cy="2286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57276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1920240"/>
            <a:ext cx="640080" cy="64008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196596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BBA8D"/>
                </a:solidFill>
                <a:latin typeface="Calibri"/>
              </a:defRPr>
            </a:pPr>
            <a:r>
              <a:t>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718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Patient sends WhatsApp or opens mobile app. AI suggests right doctor based on symptoms.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46304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8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83280" y="1554480"/>
            <a:ext cx="2468880" cy="2286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157276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0" y="1920240"/>
            <a:ext cx="640080" cy="640080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0" y="196596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651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64772"/>
                </a:solidFill>
                <a:latin typeface="Calibri"/>
              </a:defRPr>
            </a:pPr>
            <a:r>
              <a:t>CONFIRM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9718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Instant booking confirmation. Calendar sync. Pre-visit questionnaire if needed.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46304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1554480"/>
            <a:ext cx="2468880" cy="228600"/>
          </a:xfrm>
          <a:prstGeom prst="rect">
            <a:avLst/>
          </a:prstGeom>
          <a:solidFill>
            <a:srgbClr val="1B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57276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29" name="Oval 28"/>
          <p:cNvSpPr/>
          <p:nvPr/>
        </p:nvSpPr>
        <p:spPr>
          <a:xfrm>
            <a:off x="7040880" y="1920240"/>
            <a:ext cx="640080" cy="640080"/>
          </a:xfrm>
          <a:prstGeom prst="ellipse">
            <a:avLst/>
          </a:prstGeom>
          <a:solidFill>
            <a:srgbClr val="1B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0" y="196596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651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B785A"/>
                </a:solidFill>
                <a:latin typeface="Calibri"/>
              </a:defRPr>
            </a:pPr>
            <a:r>
              <a:t>TRACK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9718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Real-time queue position on phone. "You are #3. Est. wait: 15 minutes."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146304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235440" y="1554480"/>
            <a:ext cx="246888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235440" y="1554480"/>
            <a:ext cx="2468880" cy="22860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0" y="157276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37" name="Oval 36"/>
          <p:cNvSpPr/>
          <p:nvPr/>
        </p:nvSpPr>
        <p:spPr>
          <a:xfrm>
            <a:off x="9966960" y="1920240"/>
            <a:ext cx="640080" cy="64008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66960" y="196596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651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E6A01E"/>
                </a:solidFill>
                <a:latin typeface="Calibri"/>
              </a:defRPr>
            </a:pPr>
            <a:r>
              <a:t>VISIT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29718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Smart queue display at clinic. Doctor sees live patient list. No paper, no chaos.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02336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4114800"/>
            <a:ext cx="246888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7200" y="4114800"/>
            <a:ext cx="2468880" cy="22860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13308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45" name="Oval 44"/>
          <p:cNvSpPr/>
          <p:nvPr/>
        </p:nvSpPr>
        <p:spPr>
          <a:xfrm>
            <a:off x="1188720" y="4480560"/>
            <a:ext cx="640080" cy="640080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88720" y="45262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2120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8C3CB4"/>
                </a:solidFill>
                <a:latin typeface="Calibri"/>
              </a:defRPr>
            </a:pPr>
            <a:r>
              <a:t>PAY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53212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Digital receipt via WhatsApp. Payment tracked: UPI/Card/Cash. Auto-billing.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1840" y="402336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383280" y="4114800"/>
            <a:ext cx="2468880" cy="1956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383280" y="4114800"/>
            <a:ext cx="2468880" cy="22860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74720" y="413308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53" name="Oval 52"/>
          <p:cNvSpPr/>
          <p:nvPr/>
        </p:nvSpPr>
        <p:spPr>
          <a:xfrm>
            <a:off x="4114800" y="4480560"/>
            <a:ext cx="640080" cy="640080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14800" y="45262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52120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DC3C3C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553212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AI reads lab report. Explains in simple language. Flags abnormal values.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402336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09360" y="4114800"/>
            <a:ext cx="2468880" cy="1892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309360" y="4114800"/>
            <a:ext cx="2468880" cy="22860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0" y="413308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9:41</a:t>
            </a:r>
          </a:p>
        </p:txBody>
      </p:sp>
      <p:sp>
        <p:nvSpPr>
          <p:cNvPr id="61" name="Oval 60"/>
          <p:cNvSpPr/>
          <p:nvPr/>
        </p:nvSpPr>
        <p:spPr>
          <a:xfrm>
            <a:off x="7040880" y="4480560"/>
            <a:ext cx="640080" cy="640080"/>
          </a:xfrm>
          <a:prstGeom prst="ellipse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040880" y="45262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0" y="52120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C82B4"/>
                </a:solidFill>
                <a:latin typeface="Calibri"/>
              </a:defRPr>
            </a:pPr>
            <a:r>
              <a:t>FOLLOW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53212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Automated follow-up reminder. Next appointment auto-suggested.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44000" y="402336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35440" y="4114800"/>
            <a:ext cx="246888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235440" y="4114800"/>
            <a:ext cx="2468880" cy="2286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326880" y="413308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4480560"/>
            <a:ext cx="640080" cy="640080"/>
          </a:xfrm>
          <a:prstGeom prst="ellipse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966960" y="45262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35440" y="52120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643C8C"/>
                </a:solidFill>
                <a:latin typeface="Calibri"/>
              </a:defRPr>
            </a:pPr>
            <a:r>
              <a:t>REFILL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26880" y="553212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Pharmacy alert when meds run low. Family notified. Auto-order option.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126480"/>
            <a:ext cx="12191695" cy="36576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64772"/>
                </a:solidFill>
                <a:latin typeface="Calibri"/>
              </a:defRPr>
            </a:pPr>
            <a:r>
              <a:t>PATIENT JOURNEY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2828C"/>
                </a:solidFill>
                <a:latin typeface="Calibri"/>
              </a:defRPr>
            </a:pPr>
            <a:r>
              <a:t>Every touchpoint is digital, real-time, and designed for zero friction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Dashboard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Complete clinic management system - 8 modules, already built and operational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6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2743200" cy="13716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1737360"/>
            <a:ext cx="457200" cy="457200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6479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7373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1737360"/>
            <a:ext cx="822960" cy="274320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03120" y="1755648"/>
            <a:ext cx="822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6 KPIs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86000"/>
            <a:ext cx="2468880" cy="18288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37744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Real-time stats: Patients Today,</a:t>
            </a:r>
            <a:br/>
            <a:r>
              <a:t>Appointments, Queue, Performance.</a:t>
            </a:r>
            <a:br/>
            <a:r>
              <a:t>7-day trend charts. Quick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46304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1463040"/>
            <a:ext cx="2743200" cy="13716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429000" y="1737360"/>
            <a:ext cx="457200" cy="45720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176479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7373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QUEUE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1737360"/>
            <a:ext cx="1097280" cy="274320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1755648"/>
            <a:ext cx="10972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286000"/>
            <a:ext cx="2468880" cy="18288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29000" y="237744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Per-doctor live queue. Status:</a:t>
            </a:r>
            <a:br/>
            <a:r>
              <a:t>waiting/serving/completed/skipped.</a:t>
            </a:r>
            <a:br/>
            <a:r>
              <a:t>Socket.io real-time updates.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46304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1463040"/>
            <a:ext cx="2743200" cy="137160"/>
          </a:xfrm>
          <a:prstGeom prst="rect">
            <a:avLst/>
          </a:prstGeom>
          <a:solidFill>
            <a:srgbClr val="1B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55080" y="1737360"/>
            <a:ext cx="457200" cy="457200"/>
          </a:xfrm>
          <a:prstGeom prst="ellipse">
            <a:avLst/>
          </a:prstGeom>
          <a:solidFill>
            <a:srgbClr val="1B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176479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7373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DOCTORS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1737360"/>
            <a:ext cx="1097280" cy="274320"/>
          </a:xfrm>
          <a:prstGeom prst="roundRect">
            <a:avLst/>
          </a:prstGeom>
          <a:solidFill>
            <a:srgbClr val="1B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0" y="1755648"/>
            <a:ext cx="10972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15+ Specs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2286000"/>
            <a:ext cx="2468880" cy="18288"/>
          </a:xfrm>
          <a:prstGeom prst="rect">
            <a:avLst/>
          </a:prstGeom>
          <a:solidFill>
            <a:srgbClr val="1B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237744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CRUD for 15+ specialties.</a:t>
            </a:r>
            <a:br/>
            <a:r>
              <a:t>Weekly scheduling. Fees config.</a:t>
            </a:r>
            <a:br/>
            <a:r>
              <a:t>Availability windows per slot.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146304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0" y="1463040"/>
            <a:ext cx="2743200" cy="13716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281160" y="1737360"/>
            <a:ext cx="457200" cy="45720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81160" y="176479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17373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APPOINTMENTS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0" y="1737360"/>
            <a:ext cx="731520" cy="274320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789920" y="1755648"/>
            <a:ext cx="10972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Full CRUD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1160" y="2286000"/>
            <a:ext cx="2468880" cy="18288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81160" y="237744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Full lifecycle: book, reschedule,</a:t>
            </a:r>
            <a:br/>
            <a:r>
              <a:t>cancel. Filter by doctor/date/status.</a:t>
            </a:r>
            <a:br/>
            <a:r>
              <a:t>Patient phone search.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402336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65760" y="4023360"/>
            <a:ext cx="2743200" cy="13716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02920" y="4297680"/>
            <a:ext cx="457200" cy="457200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432511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429768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BILLING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11680" y="4297680"/>
            <a:ext cx="914400" cy="274320"/>
          </a:xfrm>
          <a:prstGeom prst="round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011680" y="4315968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3 Modes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846320"/>
            <a:ext cx="2468880" cy="1828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493776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Invoice generation. Print receipts.</a:t>
            </a:r>
            <a:br/>
            <a:r>
              <a:t>Payment mode tracking: Cash/UPI/</a:t>
            </a:r>
            <a:br/>
            <a:r>
              <a:t>Card. Discount management.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91840" y="402336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291840" y="4023360"/>
            <a:ext cx="2743200" cy="13716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3429000" y="4297680"/>
            <a:ext cx="457200" cy="457200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29000" y="432511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1920" y="429768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FOLLOW-UPS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892040" y="4297680"/>
            <a:ext cx="960120" cy="274320"/>
          </a:xfrm>
          <a:prstGeom prst="round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892040" y="4315968"/>
            <a:ext cx="960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Automated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29000" y="4846320"/>
            <a:ext cx="2468880" cy="18288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429000" y="493776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Cron-based daily reminders.</a:t>
            </a:r>
            <a:br/>
            <a:r>
              <a:t>Patient retention workflows.</a:t>
            </a:r>
            <a:br/>
            <a:r>
              <a:t>Family member booking support.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402336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217920" y="4023360"/>
            <a:ext cx="2743200" cy="13716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355080" y="4297680"/>
            <a:ext cx="457200" cy="457200"/>
          </a:xfrm>
          <a:prstGeom prst="ellipse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355080" y="432511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429768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PATIENT APP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863840" y="4297680"/>
            <a:ext cx="914400" cy="274320"/>
          </a:xfrm>
          <a:prstGeom prst="round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955280" y="4315968"/>
            <a:ext cx="822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11 Screens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55080" y="4846320"/>
            <a:ext cx="2468880" cy="18288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55080" y="493776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Phone OTP login. Browse doctors</a:t>
            </a:r>
            <a:br/>
            <a:r>
              <a:t>by specialty. Real-time queue.</a:t>
            </a:r>
            <a:br/>
            <a:r>
              <a:t>Appointment receipt on mobile.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44000" y="402336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4000" y="4023360"/>
            <a:ext cx="2743200" cy="137160"/>
          </a:xfrm>
          <a:prstGeom prst="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9281160" y="4297680"/>
            <a:ext cx="457200" cy="457200"/>
          </a:xfrm>
          <a:prstGeom prst="ellipse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81160" y="432511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84080" y="429768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LANDING PAGE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927080" y="4297680"/>
            <a:ext cx="777240" cy="274320"/>
          </a:xfrm>
          <a:prstGeom prst="round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972800" y="4325112"/>
            <a:ext cx="10058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22 Parts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281160" y="4846320"/>
            <a:ext cx="2468880" cy="18288"/>
          </a:xfrm>
          <a:prstGeom prst="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281160" y="493776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22 marketing components. Pricing</a:t>
            </a:r>
            <a:br/>
            <a:r>
              <a:t>tiers. Feature showcase. WhatsApp</a:t>
            </a:r>
            <a:br/>
            <a:r>
              <a:t>widget. App download links.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Four AI capabilities that will transform Indian healthcare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7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743200" cy="438912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2743200" cy="9144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SMART DOCTOR</a:t>
            </a:r>
            <a:br/>
            <a:r>
              <a:t>MATCHING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2002536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167128"/>
            <a:ext cx="20025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164772"/>
                </a:solidFill>
                <a:latin typeface="Calibri"/>
              </a:defRPr>
            </a:pPr>
            <a:r>
              <a:t>Symptom -&gt; Specialist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68880"/>
            <a:ext cx="2468880" cy="18288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24688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282832"/>
                </a:solidFill>
                <a:latin typeface="Calibri"/>
              </a:defRPr>
            </a:pPr>
            <a:r>
              <a:t>Patient describes symptoms</a:t>
            </a:r>
            <a:br/>
            <a:r>
              <a:t>AI analyzes and recommends</a:t>
            </a:r>
            <a:br/>
            <a:r>
              <a:t>right specialist immediately</a:t>
            </a:r>
            <a:br/>
            <a:br/>
            <a:r>
              <a:t>Example: "Chest pain + breath-</a:t>
            </a:r>
            <a:br/>
            <a:r>
              <a:t>lessness" -&gt; Cardiologist</a:t>
            </a:r>
            <a:br/>
            <a:br/>
            <a:r>
              <a:t>Impact: Reduces wrong</a:t>
            </a:r>
            <a:br/>
            <a:r>
              <a:t>consultations by 40%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463040"/>
            <a:ext cx="2743200" cy="438912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91840" y="1463040"/>
            <a:ext cx="2743200" cy="9144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155448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REPORT ANALYSIS</a:t>
            </a:r>
            <a:br/>
            <a:r>
              <a:t>(RAG)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2148840"/>
            <a:ext cx="25786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2167128"/>
            <a:ext cx="2578608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Lab Report -&gt; Plain Language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2468880"/>
            <a:ext cx="2468880" cy="18288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9000" y="2560320"/>
            <a:ext cx="24688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282832"/>
                </a:solidFill>
                <a:latin typeface="Calibri"/>
              </a:defRPr>
            </a:pPr>
            <a:r>
              <a:t>Lab report uploaded -&gt; AI parses</a:t>
            </a:r>
            <a:br/>
            <a:r>
              <a:t>-&gt; explains in patient language</a:t>
            </a:r>
            <a:br/>
            <a:br/>
            <a:r>
              <a:t>Example: "Cholesterol 240 mg/dL</a:t>
            </a:r>
            <a:br/>
            <a:r>
              <a:t>(high). Reduce fried food.</a:t>
            </a:r>
            <a:br/>
            <a:r>
              <a:t>Follow up in 3 months."</a:t>
            </a:r>
            <a:br/>
            <a:br/>
            <a:r>
              <a:t>Impact: 90% of patients</a:t>
            </a:r>
            <a:br/>
            <a:r>
              <a:t>understand their 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463040"/>
            <a:ext cx="2743200" cy="438912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1463040"/>
            <a:ext cx="2743200" cy="91440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155448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VOICE HEALTH</a:t>
            </a:r>
            <a:br/>
            <a:r>
              <a:t>ASSISTANT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39" y="2130552"/>
            <a:ext cx="2706625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0488" y="2167128"/>
            <a:ext cx="2779776" cy="1737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E6A01E"/>
                </a:solidFill>
                <a:latin typeface="Calibri"/>
              </a:defRPr>
            </a:pPr>
            <a:r>
              <a:t>Phone Call -&gt; Triage -&gt; Booking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468880"/>
            <a:ext cx="2468880" cy="18288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2560320"/>
            <a:ext cx="24688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282832"/>
                </a:solidFill>
                <a:latin typeface="Calibri"/>
              </a:defRPr>
            </a:pPr>
            <a:r>
              <a:t>Patient calls clinic line.</a:t>
            </a:r>
            <a:br/>
            <a:r>
              <a:t>AI answers, triages symptoms,</a:t>
            </a:r>
            <a:br/>
            <a:r>
              <a:t>books appointment automatically.</a:t>
            </a:r>
            <a:br/>
            <a:br/>
            <a:r>
              <a:t>Handles FAQs, prescription</a:t>
            </a:r>
            <a:br/>
            <a:r>
              <a:t>refills, report delivery.</a:t>
            </a:r>
            <a:br/>
            <a:br/>
            <a:r>
              <a:t>Impact: 24/7 availability.</a:t>
            </a:r>
            <a:br/>
            <a:r>
              <a:t>Zero missed calls.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1463040"/>
            <a:ext cx="2743200" cy="438912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0" y="1463040"/>
            <a:ext cx="2743200" cy="91440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81160" y="155448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PRESCRIPTION</a:t>
            </a:r>
            <a:br/>
            <a:r>
              <a:t>DIGITIZER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2148840"/>
            <a:ext cx="251460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15983" y="2157984"/>
            <a:ext cx="3072384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8C3CB4"/>
                </a:solidFill>
                <a:latin typeface="Calibri"/>
              </a:defRPr>
            </a:pPr>
            <a:r>
              <a:t>Handwriting -&gt; Digital -&gt; Pharmacy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2468880"/>
            <a:ext cx="2468880" cy="18288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81160" y="2560320"/>
            <a:ext cx="24688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282832"/>
                </a:solidFill>
                <a:latin typeface="Calibri"/>
              </a:defRPr>
            </a:pPr>
            <a:r>
              <a:t>Doctor writes handwritten</a:t>
            </a:r>
            <a:br/>
            <a:r>
              <a:t>prescription. AI reads it,</a:t>
            </a:r>
            <a:br/>
            <a:r>
              <a:t>converts to digital format.</a:t>
            </a:r>
            <a:br/>
            <a:br/>
            <a:r>
              <a:t>Sends to pharmacy via app.</a:t>
            </a:r>
            <a:br/>
            <a:r>
              <a:t>Tracks medication adherence.</a:t>
            </a:r>
            <a:br/>
            <a:br/>
            <a:r>
              <a:t>Impact: 100% prescription</a:t>
            </a:r>
            <a:br/>
            <a:r>
              <a:t>accuracy. Zero errors.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6035040"/>
            <a:ext cx="11430000" cy="457200"/>
          </a:xfrm>
          <a:prstGeom prst="roundRect">
            <a:avLst/>
          </a:prstGeom>
          <a:solidFill>
            <a:srgbClr val="E6FAE6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605332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46432"/>
                </a:solidFill>
                <a:latin typeface="Calibri"/>
              </a:defRPr>
            </a:pPr>
            <a:r>
              <a:t>Key Insight: AI in healthcare market will reach $45 Billion by 2030. CatchQ is building these capabilities from Day 1 - not as an afterthought.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Hospital Bed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Real-time bed tracking for emergency and ward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8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651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2651760" cy="54864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4772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Total Beds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463040"/>
            <a:ext cx="2651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1463040"/>
            <a:ext cx="2651760" cy="54864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C3C3C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Occupied (65%)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2651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265176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BA8D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Available (25%)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463040"/>
            <a:ext cx="2651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1463040"/>
            <a:ext cx="2651760" cy="54864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A01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Emergency Free</a:t>
            </a:r>
          </a:p>
        </p:txBody>
      </p:sp>
      <p:pic>
        <p:nvPicPr>
          <p:cNvPr id="25" name="Picture 24" descr="hospital_b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0"/>
            <a:ext cx="5029200" cy="20116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65760" y="4183380"/>
            <a:ext cx="5029200" cy="1010412"/>
          </a:xfrm>
          <a:prstGeom prst="rect">
            <a:avLst/>
          </a:prstGeom>
          <a:solidFill>
            <a:srgbClr val="16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4945" y="438593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REAL-TIME BED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45" y="4709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CF0"/>
                </a:solidFill>
                <a:latin typeface="Calibri"/>
              </a:defRPr>
            </a:pPr>
            <a:r>
              <a:t>ICU, General, Emergency, Maternity, Pediatric</a:t>
            </a:r>
            <a:br/>
            <a:r>
              <a:t>Ward-wise status with equipment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BED STATUS GRID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834640"/>
            <a:ext cx="109728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ICU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01752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49640" y="301752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869680" y="301752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89719" y="301752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509760" y="301752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829800" y="301752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149839" y="301752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469879" y="301752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General 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42900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549640" y="342900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869680" y="342900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189719" y="342900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509760" y="342900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829800" y="342900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149839" y="342900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469879" y="342900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789920" y="342900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1109960" y="342900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Emergency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84048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549640" y="384048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869680" y="384048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89719" y="384048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509760" y="384048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29800" y="384048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4360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Maternity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425196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549640" y="425196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869680" y="425196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189719" y="425196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509760" y="425196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829800" y="425196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Pediatric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466344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549640" y="466344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869680" y="466344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189719" y="466344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509760" y="466344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829800" y="466344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943600" y="5212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2828C"/>
                </a:solidFill>
                <a:latin typeface="Calibri"/>
              </a:defRPr>
            </a:pPr>
            <a:r>
              <a:t>Legend: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58000" y="5239512"/>
            <a:ext cx="182880" cy="16459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132320" y="5212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Available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46720" y="5239512"/>
            <a:ext cx="182880" cy="16459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321040" y="5212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Occupied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35440" y="5239512"/>
            <a:ext cx="182880" cy="164592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509760" y="5212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Reserved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65760" y="5486400"/>
            <a:ext cx="1828800" cy="64008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65760" y="5486400"/>
            <a:ext cx="18288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57200" y="5577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Ward Grid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Color-coded status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286000" y="5486400"/>
            <a:ext cx="1828800" cy="64008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2286000" y="5486400"/>
            <a:ext cx="18288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377440" y="5577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Emergency Queue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7744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&lt; 5 min allocation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06240" y="5486400"/>
            <a:ext cx="1828800" cy="64008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206240" y="5486400"/>
            <a:ext cx="18288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297680" y="5577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Admission Track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9768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Full lifecycle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126480" y="5486400"/>
            <a:ext cx="1828800" cy="64008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6126480" y="5486400"/>
            <a:ext cx="18288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217920" y="5577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Family Alerts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Real-time notifications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046720" y="5486400"/>
            <a:ext cx="1828800" cy="64008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046720" y="5486400"/>
            <a:ext cx="18288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138160" y="5577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Equipment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3816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Ventilator, monitor, O2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966960" y="5486400"/>
            <a:ext cx="1828800" cy="64008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9966960" y="5486400"/>
            <a:ext cx="18288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058400" y="5577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Billing Link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5840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Auto daily charges</a:t>
            </a:r>
          </a:p>
        </p:txBody>
      </p:sp>
    </p:spTree>
    <p:extLst>
      <p:ext uri="{BB962C8B-B14F-4D97-AF65-F5344CB8AC3E}">
        <p14:creationId xmlns:p14="http://schemas.microsoft.com/office/powerpoint/2010/main" val="2839533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Traction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What we have built and the impact it delivers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9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64772"/>
                </a:solidFill>
                <a:latin typeface="Calibri"/>
              </a:defRPr>
            </a:pPr>
            <a:r>
              <a:t>WHAT WE HAVE BUILT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502920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05740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BA8D"/>
                </a:solidFill>
                <a:latin typeface="Calibri"/>
              </a:defRPr>
            </a:pPr>
            <a:r>
              <a:t>2,100+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08483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Clinics registered in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14600"/>
            <a:ext cx="502920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5603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BA8D"/>
                </a:solidFill>
                <a:latin typeface="Calibri"/>
              </a:defRPr>
            </a:pPr>
            <a:r>
              <a:t>35+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58775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Doctors across 15+ specialties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17520"/>
            <a:ext cx="502920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01752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06324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BA8D"/>
                </a:solidFill>
                <a:latin typeface="Calibri"/>
              </a:defRPr>
            </a:pPr>
            <a:r>
              <a:t>180+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09067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Weekly schedule slots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520440"/>
            <a:ext cx="502920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52044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5661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BA8D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59359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Mobile app screens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23360"/>
            <a:ext cx="502920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02336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0690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BA8D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09651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Admin dashboard pages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26280"/>
            <a:ext cx="502920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52628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57200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BA8D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459943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REST API endpoints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029200"/>
            <a:ext cx="502920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502920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1114" y="5093208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BA8D"/>
                </a:solidFill>
                <a:latin typeface="Calibri"/>
              </a:defRPr>
            </a:pPr>
            <a:r>
              <a:rPr dirty="0"/>
              <a:t>Socket.io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510235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Real-time WebSocket gateway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532120"/>
            <a:ext cx="502920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7200" y="553212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57784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BA8D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560527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Landing page components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64772"/>
                </a:solidFill>
                <a:latin typeface="Calibri"/>
              </a:defRPr>
            </a:pPr>
            <a:r>
              <a:t>IMPACT METRICS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1783080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217920" y="201168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17920" y="2011680"/>
            <a:ext cx="265176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21488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BBA8D"/>
                </a:solidFill>
                <a:latin typeface="Calibri"/>
              </a:defRPr>
            </a:pPr>
            <a:r>
              <a:t>+40%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Revenue Increase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for Clinics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201168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144000" y="2011680"/>
            <a:ext cx="2651760" cy="54864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44000" y="21488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DC3C3C"/>
                </a:solidFill>
                <a:latin typeface="Calibri"/>
              </a:defRPr>
            </a:pPr>
            <a:r>
              <a:t>-60%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No-Show Rate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Reduction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329184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17920" y="3291840"/>
            <a:ext cx="2651760" cy="54864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17920" y="342900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64772"/>
                </a:solidFill>
                <a:latin typeface="Calibri"/>
              </a:defRPr>
            </a:pPr>
            <a:r>
              <a:t>5 Hrs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3840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Staff Time Saved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Every Day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44000" y="329184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144000" y="3291840"/>
            <a:ext cx="2651760" cy="54864"/>
          </a:xfrm>
          <a:prstGeom prst="rect">
            <a:avLst/>
          </a:prstGeom>
          <a:solidFill>
            <a:srgbClr val="1B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44000" y="342900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B785A"/>
                </a:solidFill>
                <a:latin typeface="Calibri"/>
              </a:defRPr>
            </a:pPr>
            <a:r>
              <a:t>99%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3840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Patient Satisfaction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6021705"/>
            <a:ext cx="11430000" cy="452247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57200" y="6076950"/>
            <a:ext cx="54864" cy="397383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460755" y="6012561"/>
            <a:ext cx="228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64772"/>
                </a:solidFill>
                <a:latin typeface="Calibri"/>
              </a:defRPr>
            </a:pPr>
            <a:r>
              <a:rPr dirty="0"/>
              <a:t>"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55445" y="6162675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64772"/>
                </a:solidFill>
                <a:latin typeface="Calibri"/>
              </a:defRPr>
            </a:pPr>
            <a:r>
              <a:rPr dirty="0" err="1"/>
              <a:t>CatchQ</a:t>
            </a:r>
            <a:r>
              <a:rPr dirty="0"/>
              <a:t> reduced our no-shows by 60% and increased monthly revenue by 40%.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25880" y="52806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rPr dirty="0"/>
              <a:t>Our patients love the WhatsApp booking. It has transformed how we operate.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Why CatchQ wins against existing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4772"/>
                </a:solidFill>
                <a:latin typeface="Calibri"/>
              </a:defRPr>
            </a:pPr>
            <a:r>
              <a:t>FEATURE 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7315200" cy="4114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0299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CatchQ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0299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Practo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0299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ClinicPro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299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68880"/>
            <a:ext cx="7315200" cy="36576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WhatsApp Booking</a:t>
            </a:r>
          </a:p>
        </p:txBody>
      </p:sp>
      <p:sp>
        <p:nvSpPr>
          <p:cNvPr id="19" name="Oval 18"/>
          <p:cNvSpPr/>
          <p:nvPr/>
        </p:nvSpPr>
        <p:spPr>
          <a:xfrm>
            <a:off x="3291840" y="2542032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255117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2542032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255117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0" y="2542032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55117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2542032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255117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898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Real-time Queue</a:t>
            </a:r>
          </a:p>
        </p:txBody>
      </p:sp>
      <p:sp>
        <p:nvSpPr>
          <p:cNvPr id="28" name="Oval 27"/>
          <p:cNvSpPr/>
          <p:nvPr/>
        </p:nvSpPr>
        <p:spPr>
          <a:xfrm>
            <a:off x="3291840" y="2926080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91840" y="293522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0" name="Oval 29"/>
          <p:cNvSpPr/>
          <p:nvPr/>
        </p:nvSpPr>
        <p:spPr>
          <a:xfrm>
            <a:off x="4480560" y="2926080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60" y="293522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2" name="Oval 31"/>
          <p:cNvSpPr/>
          <p:nvPr/>
        </p:nvSpPr>
        <p:spPr>
          <a:xfrm>
            <a:off x="5669280" y="2926080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293522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0" y="2926080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0" y="293522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36976"/>
            <a:ext cx="7315200" cy="36576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32826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AI Doctor Match</a:t>
            </a:r>
          </a:p>
        </p:txBody>
      </p:sp>
      <p:sp>
        <p:nvSpPr>
          <p:cNvPr id="38" name="Oval 37"/>
          <p:cNvSpPr/>
          <p:nvPr/>
        </p:nvSpPr>
        <p:spPr>
          <a:xfrm>
            <a:off x="3291840" y="3310128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40" y="331927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40" name="Oval 39"/>
          <p:cNvSpPr/>
          <p:nvPr/>
        </p:nvSpPr>
        <p:spPr>
          <a:xfrm>
            <a:off x="4480560" y="3310128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80560" y="331927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42" name="Oval 41"/>
          <p:cNvSpPr/>
          <p:nvPr/>
        </p:nvSpPr>
        <p:spPr>
          <a:xfrm>
            <a:off x="5669280" y="3310128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0" y="331927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44" name="Oval 43"/>
          <p:cNvSpPr/>
          <p:nvPr/>
        </p:nvSpPr>
        <p:spPr>
          <a:xfrm>
            <a:off x="6858000" y="3310128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0" y="331927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6667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Lab Report AI</a:t>
            </a:r>
          </a:p>
        </p:txBody>
      </p:sp>
      <p:sp>
        <p:nvSpPr>
          <p:cNvPr id="47" name="Oval 46"/>
          <p:cNvSpPr/>
          <p:nvPr/>
        </p:nvSpPr>
        <p:spPr>
          <a:xfrm>
            <a:off x="3291840" y="3694176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91840" y="3703320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49" name="Oval 48"/>
          <p:cNvSpPr/>
          <p:nvPr/>
        </p:nvSpPr>
        <p:spPr>
          <a:xfrm>
            <a:off x="4480560" y="3694176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480560" y="3703320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51" name="Oval 50"/>
          <p:cNvSpPr/>
          <p:nvPr/>
        </p:nvSpPr>
        <p:spPr>
          <a:xfrm>
            <a:off x="5669280" y="3694176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703320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53" name="Oval 52"/>
          <p:cNvSpPr/>
          <p:nvPr/>
        </p:nvSpPr>
        <p:spPr>
          <a:xfrm>
            <a:off x="6858000" y="3694176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58000" y="3703320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005072"/>
            <a:ext cx="7315200" cy="36576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" y="40507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Digital Billing</a:t>
            </a:r>
          </a:p>
        </p:txBody>
      </p:sp>
      <p:sp>
        <p:nvSpPr>
          <p:cNvPr id="57" name="Oval 56"/>
          <p:cNvSpPr/>
          <p:nvPr/>
        </p:nvSpPr>
        <p:spPr>
          <a:xfrm>
            <a:off x="3291840" y="4078224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91840" y="408736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9" name="Oval 58"/>
          <p:cNvSpPr/>
          <p:nvPr/>
        </p:nvSpPr>
        <p:spPr>
          <a:xfrm>
            <a:off x="4480560" y="4078224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480560" y="408736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61" name="Oval 60"/>
          <p:cNvSpPr/>
          <p:nvPr/>
        </p:nvSpPr>
        <p:spPr>
          <a:xfrm>
            <a:off x="5669280" y="4078224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669280" y="408736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63" name="Oval 62"/>
          <p:cNvSpPr/>
          <p:nvPr/>
        </p:nvSpPr>
        <p:spPr>
          <a:xfrm>
            <a:off x="6858000" y="4078224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858000" y="408736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Bed Management</a:t>
            </a:r>
          </a:p>
        </p:txBody>
      </p:sp>
      <p:sp>
        <p:nvSpPr>
          <p:cNvPr id="66" name="Oval 65"/>
          <p:cNvSpPr/>
          <p:nvPr/>
        </p:nvSpPr>
        <p:spPr>
          <a:xfrm>
            <a:off x="3291840" y="4462272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291840" y="447141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68" name="Oval 67"/>
          <p:cNvSpPr/>
          <p:nvPr/>
        </p:nvSpPr>
        <p:spPr>
          <a:xfrm>
            <a:off x="4480560" y="4462272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480560" y="447141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70" name="Oval 69"/>
          <p:cNvSpPr/>
          <p:nvPr/>
        </p:nvSpPr>
        <p:spPr>
          <a:xfrm>
            <a:off x="5669280" y="4462272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669280" y="447141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72" name="Oval 71"/>
          <p:cNvSpPr/>
          <p:nvPr/>
        </p:nvSpPr>
        <p:spPr>
          <a:xfrm>
            <a:off x="6858000" y="4462272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858000" y="447141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4773168"/>
            <a:ext cx="7315200" cy="36576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0080" y="4818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76" name="Oval 75"/>
          <p:cNvSpPr/>
          <p:nvPr/>
        </p:nvSpPr>
        <p:spPr>
          <a:xfrm>
            <a:off x="3291840" y="4846320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291840" y="485546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78" name="Oval 77"/>
          <p:cNvSpPr/>
          <p:nvPr/>
        </p:nvSpPr>
        <p:spPr>
          <a:xfrm>
            <a:off x="4480560" y="4846320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480560" y="485546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80" name="Oval 79"/>
          <p:cNvSpPr/>
          <p:nvPr/>
        </p:nvSpPr>
        <p:spPr>
          <a:xfrm>
            <a:off x="5669280" y="4846320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669280" y="485546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82" name="Oval 81"/>
          <p:cNvSpPr/>
          <p:nvPr/>
        </p:nvSpPr>
        <p:spPr>
          <a:xfrm>
            <a:off x="6858000" y="4846320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58000" y="485546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52029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SaaS Pricing</a:t>
            </a:r>
          </a:p>
        </p:txBody>
      </p:sp>
      <p:sp>
        <p:nvSpPr>
          <p:cNvPr id="85" name="Oval 84"/>
          <p:cNvSpPr/>
          <p:nvPr/>
        </p:nvSpPr>
        <p:spPr>
          <a:xfrm>
            <a:off x="3291840" y="5230368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291840" y="523951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87" name="Oval 86"/>
          <p:cNvSpPr/>
          <p:nvPr/>
        </p:nvSpPr>
        <p:spPr>
          <a:xfrm>
            <a:off x="4480560" y="5230368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480560" y="523951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89" name="Oval 88"/>
          <p:cNvSpPr/>
          <p:nvPr/>
        </p:nvSpPr>
        <p:spPr>
          <a:xfrm>
            <a:off x="5669280" y="5230368"/>
            <a:ext cx="201168" cy="201168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669280" y="523951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91" name="Oval 90"/>
          <p:cNvSpPr/>
          <p:nvPr/>
        </p:nvSpPr>
        <p:spPr>
          <a:xfrm>
            <a:off x="6858000" y="5230368"/>
            <a:ext cx="201168" cy="201168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858000" y="523951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229600" y="1463040"/>
            <a:ext cx="3657600" cy="4306824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41248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4772"/>
                </a:solidFill>
                <a:latin typeface="Calibri"/>
              </a:defRPr>
            </a:pPr>
            <a:r>
              <a:t>OUR ADVANTAGES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412480" y="1828800"/>
            <a:ext cx="109728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8503920" y="2011680"/>
            <a:ext cx="274320" cy="27432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503920" y="20299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69680" y="20116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Only Platform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86968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WhatsApp + Queue + AI + Billing + Beds in one</a:t>
            </a:r>
          </a:p>
        </p:txBody>
      </p:sp>
      <p:sp>
        <p:nvSpPr>
          <p:cNvPr id="100" name="Oval 99"/>
          <p:cNvSpPr/>
          <p:nvPr/>
        </p:nvSpPr>
        <p:spPr>
          <a:xfrm>
            <a:off x="8503920" y="2651760"/>
            <a:ext cx="274320" cy="27432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503920" y="26700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869680" y="26517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AI-First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6968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Doctor matching, report analysis, voice assistant</a:t>
            </a:r>
          </a:p>
        </p:txBody>
      </p:sp>
      <p:sp>
        <p:nvSpPr>
          <p:cNvPr id="104" name="Oval 103"/>
          <p:cNvSpPr/>
          <p:nvPr/>
        </p:nvSpPr>
        <p:spPr>
          <a:xfrm>
            <a:off x="8503920" y="3291840"/>
            <a:ext cx="274320" cy="27432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503920" y="33101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869680" y="3291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India-Built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69680" y="3520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Designed for Indian clinics, not adapted from US</a:t>
            </a:r>
          </a:p>
        </p:txBody>
      </p:sp>
      <p:sp>
        <p:nvSpPr>
          <p:cNvPr id="108" name="Oval 107"/>
          <p:cNvSpPr/>
          <p:nvPr/>
        </p:nvSpPr>
        <p:spPr>
          <a:xfrm>
            <a:off x="8503920" y="3931920"/>
            <a:ext cx="274320" cy="27432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503920" y="39502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869680" y="39319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Affordable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86968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Rs. 2,999/month vs Rs. 10,000+ enterprise</a:t>
            </a:r>
          </a:p>
        </p:txBody>
      </p:sp>
      <p:sp>
        <p:nvSpPr>
          <p:cNvPr id="112" name="Oval 111"/>
          <p:cNvSpPr/>
          <p:nvPr/>
        </p:nvSpPr>
        <p:spPr>
          <a:xfrm>
            <a:off x="8503920" y="4572000"/>
            <a:ext cx="274320" cy="27432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503920" y="459028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869680" y="4572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30+ APIs, 14 pages, 11 screens already built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65760" y="5943600"/>
            <a:ext cx="11430000" cy="457200"/>
          </a:xfrm>
          <a:prstGeom prst="roundRect">
            <a:avLst/>
          </a:prstGeom>
          <a:solidFill>
            <a:srgbClr val="E6FAE6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4864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6432"/>
                </a:solidFill>
                <a:latin typeface="Calibri"/>
              </a:defRPr>
            </a:pPr>
            <a:r>
              <a:t>CatchQ is the only platform combining WhatsApp booking, AI diagnostics, real-time queue, and hospital bed management.</a:t>
            </a:r>
          </a:p>
        </p:txBody>
      </p:sp>
    </p:spTree>
    <p:extLst>
      <p:ext uri="{BB962C8B-B14F-4D97-AF65-F5344CB8AC3E}">
        <p14:creationId xmlns:p14="http://schemas.microsoft.com/office/powerpoint/2010/main" val="2465655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Multiple revenue streams for sustainable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10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3474720" cy="182880"/>
          </a:xfrm>
          <a:prstGeom prst="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82832"/>
                </a:solidFill>
                <a:latin typeface="Calibri"/>
              </a:defRPr>
            </a:pPr>
            <a: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82828C"/>
                </a:solidFill>
                <a:latin typeface="Calibri"/>
              </a:defRPr>
            </a:pPr>
            <a:r>
              <a:t>Rs. 2,999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2828C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t>For small clinics</a:t>
            </a:r>
            <a:br/>
            <a:r>
              <a:t>(1-2 doctors)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2926080" cy="18288"/>
          </a:xfrm>
          <a:prstGeom prst="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03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WhatsApp 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59352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593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Up to 2 doctors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153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1538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Basic queue mgmt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71416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7141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Digital receipts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2744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274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Email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83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83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Mobile app access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146304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80" y="1463040"/>
            <a:ext cx="3474720" cy="18288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303520" y="1234440"/>
            <a:ext cx="1463040" cy="320040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0" y="125272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MOST POPULAR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17830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82832"/>
                </a:solidFill>
                <a:latin typeface="Calibri"/>
              </a:defRPr>
            </a:pPr>
            <a:r>
              <a:t>Professional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219456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1BBA8D"/>
                </a:solidFill>
                <a:latin typeface="Calibri"/>
              </a:defRPr>
            </a:pPr>
            <a:r>
              <a:t>Rs. 5,999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26517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2828C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297180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t>For growing clinics</a:t>
            </a:r>
            <a:br/>
            <a:r>
              <a:t>(3-5 doctors)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566160"/>
            <a:ext cx="2926080" cy="18288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0" y="370332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703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Everything in Starter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959352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9593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Up to 5 doctors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42153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21538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Smart TV display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471416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47141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Advanced analytics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72744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47274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Auto reminders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983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4983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Priority support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146304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138160" y="1463040"/>
            <a:ext cx="3474720" cy="1828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29600" y="17830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82832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219456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164772"/>
                </a:solidFill>
                <a:latin typeface="Calibri"/>
              </a:defRPr>
            </a:pPr>
            <a:r>
              <a:t>Rs. 9,999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26517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2828C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97180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t>For hospitals</a:t>
            </a:r>
            <a:br/>
            <a:r>
              <a:t>&amp; chain clinics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12480" y="3566160"/>
            <a:ext cx="2926080" cy="18288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412480" y="370332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3703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Everything in Pro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3959352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39593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Unlimited doctors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42153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21538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Multi-location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4471416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47141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API access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472744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47274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Dedicated manager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4983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4983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24/7 phone support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343525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REVENUE STREAMS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617845"/>
            <a:ext cx="109728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457200" y="5709285"/>
            <a:ext cx="2194560" cy="7772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57200" y="5709285"/>
            <a:ext cx="2194560" cy="109728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8640" y="5846445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SaaS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075045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Monthly subscriptions</a:t>
            </a:r>
            <a:br/>
            <a:r>
              <a:t>(recurring revenue)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801368" y="5846445"/>
            <a:ext cx="758952" cy="201168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801368" y="5855589"/>
            <a:ext cx="7589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PRIMARY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743200" y="5709285"/>
            <a:ext cx="2194560" cy="7772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2743200" y="5709285"/>
            <a:ext cx="2194560" cy="109728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34640" y="5846445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64772"/>
                </a:solidFill>
                <a:latin typeface="Calibri"/>
              </a:defRPr>
            </a:pPr>
            <a:r>
              <a:t>TXN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34640" y="6075045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1-2% per payment</a:t>
            </a:r>
            <a:br/>
            <a:r>
              <a:t>transaction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87368" y="5846445"/>
            <a:ext cx="758952" cy="201168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087368" y="5855589"/>
            <a:ext cx="7589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PER TXN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029200" y="5709285"/>
            <a:ext cx="2194560" cy="7772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029200" y="5709285"/>
            <a:ext cx="2194560" cy="109728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20640" y="5846445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8C3CB4"/>
                </a:solidFill>
                <a:latin typeface="Calibri"/>
              </a:defRPr>
            </a:pPr>
            <a:r>
              <a:t>Pharmacy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0640" y="6075045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5-10% commission</a:t>
            </a:r>
            <a:br/>
            <a:r>
              <a:t>on medicine orders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26481" y="5846445"/>
            <a:ext cx="1005839" cy="201168"/>
          </a:xfrm>
          <a:prstGeom prst="round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126481" y="5855589"/>
            <a:ext cx="10058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COMMISSION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15200" y="5709285"/>
            <a:ext cx="2194560" cy="7772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7315200" y="5709285"/>
            <a:ext cx="2194560" cy="10972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406640" y="5846445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DC3C3C"/>
                </a:solidFill>
                <a:latin typeface="Calibri"/>
              </a:defRPr>
            </a:pPr>
            <a:r>
              <a:t>AI Add-on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06640" y="6075045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Rs. 999/month</a:t>
            </a:r>
            <a:br/>
            <a:r>
              <a:t>premium AI features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741664" y="5846445"/>
            <a:ext cx="676656" cy="201168"/>
          </a:xfrm>
          <a:prstGeom prst="round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741664" y="5855589"/>
            <a:ext cx="6766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ADD-ON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601200" y="5709285"/>
            <a:ext cx="2194560" cy="7772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9601200" y="5709285"/>
            <a:ext cx="2194560" cy="109728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692640" y="5846445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3C82B4"/>
                </a:solidFill>
                <a:latin typeface="Calibri"/>
              </a:defRPr>
            </a:pPr>
            <a:r>
              <a:t>Bed Module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92640" y="6075045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Rs. 4,999/month</a:t>
            </a:r>
            <a:br/>
            <a:r>
              <a:t>hospital bed tracking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1027664" y="5846445"/>
            <a:ext cx="676656" cy="201168"/>
          </a:xfrm>
          <a:prstGeom prst="round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1027664" y="5855589"/>
            <a:ext cx="6766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Clear path from MVP to market leadership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4772"/>
                </a:solidFill>
                <a:latin typeface="Calibri"/>
              </a:defRPr>
            </a:pPr>
            <a:r>
              <a:t>DEVELOPMENT TIMELINE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11247120" cy="73152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88720" y="2011680"/>
            <a:ext cx="274320" cy="27432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2560320" cy="13716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BA8D"/>
                </a:solidFill>
                <a:latin typeface="Calibri"/>
              </a:defRPr>
            </a:pPr>
            <a:r>
              <a:rPr dirty="0"/>
              <a:t>Q</a:t>
            </a:r>
            <a:r>
              <a:rPr lang="en-IN" dirty="0"/>
              <a:t>2</a:t>
            </a:r>
            <a:r>
              <a:rPr dirty="0"/>
              <a:t>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MVP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83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t>Core booking, queue, billing.</a:t>
            </a:r>
            <a:br/>
            <a:r>
              <a:t>10 pilot clinics onboarded.</a:t>
            </a:r>
          </a:p>
        </p:txBody>
      </p:sp>
      <p:sp>
        <p:nvSpPr>
          <p:cNvPr id="18" name="Oval 17"/>
          <p:cNvSpPr/>
          <p:nvPr/>
        </p:nvSpPr>
        <p:spPr>
          <a:xfrm>
            <a:off x="3931920" y="2011680"/>
            <a:ext cx="274320" cy="274320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00400" y="2560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0" y="2560320"/>
            <a:ext cx="2560320" cy="13716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91840" y="2743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4772"/>
                </a:solidFill>
                <a:latin typeface="Calibri"/>
              </a:defRPr>
            </a:pPr>
            <a:r>
              <a:rPr dirty="0"/>
              <a:t>Q</a:t>
            </a:r>
            <a:r>
              <a:rPr lang="en-IN" dirty="0"/>
              <a:t>3</a:t>
            </a:r>
            <a:r>
              <a:rPr dirty="0"/>
              <a:t>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AI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383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t>Doctor matching, report analysis.</a:t>
            </a:r>
            <a:br/>
            <a:r>
              <a:t>50 clinics live.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2011680"/>
            <a:ext cx="274320" cy="27432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943600" y="2560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0" y="2560320"/>
            <a:ext cx="2560320" cy="13716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35040" y="2743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A01E"/>
                </a:solidFill>
                <a:latin typeface="Calibri"/>
              </a:defRPr>
            </a:pPr>
            <a:r>
              <a:rPr dirty="0"/>
              <a:t>Q</a:t>
            </a:r>
            <a:r>
              <a:rPr lang="en-IN" dirty="0"/>
              <a:t>4</a:t>
            </a:r>
            <a:r>
              <a:rPr dirty="0"/>
              <a:t> 202</a:t>
            </a:r>
            <a:r>
              <a:rPr lang="en-IN" dirty="0"/>
              <a:t>7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603504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Scale Phase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383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t>Pharmacy integration, bed mgmt.</a:t>
            </a:r>
            <a:br/>
            <a:r>
              <a:t>200 clinics, 5 cities.</a:t>
            </a:r>
          </a:p>
        </p:txBody>
      </p:sp>
      <p:sp>
        <p:nvSpPr>
          <p:cNvPr id="30" name="Oval 29"/>
          <p:cNvSpPr/>
          <p:nvPr/>
        </p:nvSpPr>
        <p:spPr>
          <a:xfrm>
            <a:off x="9418320" y="2011680"/>
            <a:ext cx="274320" cy="274320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560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86800" y="2560320"/>
            <a:ext cx="2560320" cy="13716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0" y="2743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C3CB4"/>
                </a:solidFill>
                <a:latin typeface="Calibri"/>
              </a:defRPr>
            </a:pPr>
            <a:r>
              <a:rPr dirty="0"/>
              <a:t>Q</a:t>
            </a:r>
            <a:r>
              <a:rPr lang="en-IN" dirty="0"/>
              <a:t>1</a:t>
            </a:r>
            <a:r>
              <a:rPr dirty="0"/>
              <a:t> 202</a:t>
            </a:r>
            <a:r>
              <a:rPr lang="en-IN" dirty="0"/>
              <a:t>7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877824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383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t>Voice assistant, multi-location.</a:t>
            </a:r>
            <a:br/>
            <a:r>
              <a:t>500 clinics, 10 cities.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KEY MILESTONES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029200"/>
            <a:ext cx="91440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57200" y="5212080"/>
            <a:ext cx="2743200" cy="5486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523036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523036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10 pilot clinics, Rs. 3L MRR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7560" y="5212080"/>
            <a:ext cx="2743200" cy="5486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29000" y="523036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Month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523036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50 clinics, AI features live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5212080"/>
            <a:ext cx="2743200" cy="5486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9360" y="523036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Month 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523036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200 clinics, 5 cities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8280" y="5212080"/>
            <a:ext cx="2743200" cy="5486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89720" y="523036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Month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87000" y="523036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500 clinics, Rs. 25L MRR</a:t>
            </a:r>
          </a:p>
        </p:txBody>
      </p:sp>
    </p:spTree>
    <p:extLst>
      <p:ext uri="{BB962C8B-B14F-4D97-AF65-F5344CB8AC3E}">
        <p14:creationId xmlns:p14="http://schemas.microsoft.com/office/powerpoint/2010/main" val="3591121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Massive addressable market with clear product-market 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11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64772"/>
                </a:solidFill>
                <a:latin typeface="Calibri"/>
              </a:defRPr>
            </a:pPr>
            <a:r>
              <a:t>INDIA  (PRIMARY MARKET)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265176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BBA8D"/>
                </a:solidFill>
                <a:latin typeface="Calibri"/>
              </a:defRPr>
            </a:pPr>
            <a:r>
              <a:t>10 Lakh+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Clinics as total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addressable 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0116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2011680"/>
            <a:ext cx="2651760" cy="54864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21488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64772"/>
                </a:solidFill>
                <a:latin typeface="Calibri"/>
              </a:defRPr>
            </a:pPr>
            <a:r>
              <a:t>30,000+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Hospitals needing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bed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011680"/>
            <a:ext cx="2651760" cy="54864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21488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E6A01E"/>
                </a:solidFill>
                <a:latin typeface="Calibri"/>
              </a:defRPr>
            </a:pPr>
            <a:r>
              <a:t>Rs. 50K Cr+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Healthcare IT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market by 2028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0116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98280" y="2011680"/>
            <a:ext cx="2651760" cy="54864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98280" y="21488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8C3CB4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Patients prefer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64772"/>
                </a:solidFill>
                <a:latin typeface="Calibri"/>
              </a:defRPr>
            </a:pPr>
            <a:r>
              <a:t>GLOBAL  (EXPANSION MARKET)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20440"/>
            <a:ext cx="1371600" cy="36576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7200" y="3749039"/>
            <a:ext cx="3474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3749039"/>
            <a:ext cx="347472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3886199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BBA8D"/>
                </a:solidFill>
                <a:latin typeface="Calibri"/>
              </a:defRPr>
            </a:pPr>
            <a:r>
              <a:t>$1.2 Billion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976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Queue Management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Market by 2028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749039"/>
            <a:ext cx="3474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97680" y="3749039"/>
            <a:ext cx="3474720" cy="54864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0" y="3886199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64772"/>
                </a:solidFill>
                <a:latin typeface="Calibri"/>
              </a:defRPr>
            </a:pPr>
            <a:r>
              <a:t>$8.4 Billion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2976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Clinic Management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Market by 2028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749039"/>
            <a:ext cx="3474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38160" y="3749039"/>
            <a:ext cx="3474720" cy="54864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38160" y="3886199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DC3C3C"/>
                </a:solidFill>
                <a:latin typeface="Calibri"/>
              </a:defRPr>
            </a:pPr>
            <a:r>
              <a:t>$45 Billion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2976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AI in Healthcare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by 2030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9377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MARKET SIZING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212080"/>
            <a:ext cx="91440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57200" y="5394960"/>
            <a:ext cx="365760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413248"/>
            <a:ext cx="731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413248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82832"/>
                </a:solidFill>
                <a:latin typeface="Calibri"/>
              </a:defRPr>
            </a:pPr>
            <a:r>
              <a:t>Rs. 50,000 Cr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32760" y="54406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t>Total clinic IT spend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51960" y="5394960"/>
            <a:ext cx="365760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43400" y="5413248"/>
            <a:ext cx="731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413248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82832"/>
                </a:solidFill>
                <a:latin typeface="Calibri"/>
              </a:defRPr>
            </a:pPr>
            <a:r>
              <a:t>Rs. 5,000 Cr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54406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t>SaaS-able segment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5394960"/>
            <a:ext cx="365760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38160" y="5413248"/>
            <a:ext cx="731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5413248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82832"/>
                </a:solidFill>
                <a:latin typeface="Calibri"/>
              </a:defRPr>
            </a:pPr>
            <a:r>
              <a:t>Rs. 500 Cr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54406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t>Year 3 target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Revenue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Conservative estimates based on market benchmarks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4772"/>
                </a:solidFill>
                <a:latin typeface="Calibri"/>
              </a:defRPr>
            </a:pPr>
            <a:r>
              <a:t>YEAR 1 PROJECTIONS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BA8D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Clinics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20116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377440" y="2011680"/>
            <a:ext cx="1828800" cy="54864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4772"/>
                </a:solidFill>
                <a:latin typeface="Calibri"/>
              </a:defRPr>
            </a:pPr>
            <a:r>
              <a:t>Rs. 3L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MRR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0116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0" y="2011680"/>
            <a:ext cx="1828800" cy="54864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A01E"/>
                </a:solidFill>
                <a:latin typeface="Calibri"/>
              </a:defRPr>
            </a:pPr>
            <a:r>
              <a:t>Rs. 36L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ARR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0116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2011680"/>
            <a:ext cx="1828800" cy="54864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C3CB4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Growth 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0116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2011680"/>
            <a:ext cx="1828800" cy="54864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C82B4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Retention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20116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058400" y="2011680"/>
            <a:ext cx="1828800" cy="54864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3C3C"/>
                </a:solidFill>
                <a:latin typeface="Calibri"/>
              </a:defRPr>
            </a:pPr>
            <a:r>
              <a:t>Rs. 7.2L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Avg/Clinic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3-YEAR FINANCIAL PROJECTIONS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91840"/>
            <a:ext cx="137160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886200"/>
            <a:ext cx="11247120" cy="36576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Clinics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1,000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315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MRR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4315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Rs. 3L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315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Rs. 15L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315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Rs. 80L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654296"/>
            <a:ext cx="11247120" cy="36576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47000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ARR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47000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Rs. 36L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7000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Rs. 1.8 Cr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7000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Rs. 9.6 Cr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0840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Team Size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0" y="5084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084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5084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422392"/>
            <a:ext cx="11247120" cy="36576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" y="5468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Cities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5468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5468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5468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" y="5943600"/>
            <a:ext cx="11430000" cy="457200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164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864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4772"/>
                </a:solidFill>
                <a:latin typeface="Calibri"/>
              </a:defRPr>
            </a:pPr>
            <a:r>
              <a:t>Conservative estimates. Based on Rs. 5,999 avg subscription, 85% retention, 60% YoY growth.</a:t>
            </a:r>
          </a:p>
        </p:txBody>
      </p:sp>
    </p:spTree>
    <p:extLst>
      <p:ext uri="{BB962C8B-B14F-4D97-AF65-F5344CB8AC3E}">
        <p14:creationId xmlns:p14="http://schemas.microsoft.com/office/powerpoint/2010/main" val="2697822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Ask &amp; 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Investment to scale CatchQ across India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13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63040"/>
            <a:ext cx="7589520" cy="640080"/>
          </a:xfrm>
          <a:prstGeom prst="roundRect">
            <a:avLst/>
          </a:prstGeom>
          <a:solidFill>
            <a:srgbClr val="E6FAE6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1508760"/>
            <a:ext cx="7589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BBA8D"/>
                </a:solidFill>
                <a:latin typeface="Calibri"/>
              </a:defRPr>
            </a:pPr>
            <a:r>
              <a:t>SEEKING: Rs. 30-35 LAKHS  (SEED FUND)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64772"/>
                </a:solidFill>
                <a:latin typeface="Calibri"/>
              </a:defRPr>
            </a:pPr>
            <a:r>
              <a:t>USE OF FUNDS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91440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9864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Alloc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9864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11247120" cy="41148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3364992"/>
            <a:ext cx="256032" cy="256032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3375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AI Engine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3375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64772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375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RAG, Computer Vision, Voice Agent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803904"/>
            <a:ext cx="256032" cy="256032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77647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Sales &amp;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776472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76472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Pilot deployments, clinic onboarding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69664"/>
            <a:ext cx="11247120" cy="41148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0080" y="4242816"/>
            <a:ext cx="256032" cy="256032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4215384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Pharmacy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215384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8C3CB4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15384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Medicine alerts, delivery API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4681728"/>
            <a:ext cx="256032" cy="256032"/>
          </a:xfrm>
          <a:prstGeom prst="ellipse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46542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Hospital Bed Mgmt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654296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3C82B4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654296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Ward tracking, emergency allocation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47120" cy="41148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0080" y="5120640"/>
            <a:ext cx="256032" cy="256032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09320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Infrastructure &amp; 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09320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6A01E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9320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Hosting, domain, dev tools</a:t>
            </a:r>
          </a:p>
        </p:txBody>
      </p:sp>
      <p:sp>
        <p:nvSpPr>
          <p:cNvPr id="40" name="Oval 39"/>
          <p:cNvSpPr/>
          <p:nvPr/>
        </p:nvSpPr>
        <p:spPr>
          <a:xfrm>
            <a:off x="640080" y="5559552"/>
            <a:ext cx="256032" cy="256032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" y="55321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Legal &amp; Compliance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5321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DC3C3C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5321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HIPAA compliance, data protection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943600"/>
            <a:ext cx="91440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2286000" y="2399919"/>
            <a:ext cx="7768284" cy="347472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164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362200" y="244602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64772"/>
                </a:solidFill>
                <a:latin typeface="Calibri"/>
              </a:defRPr>
            </a:pPr>
            <a:r>
              <a:rPr dirty="0"/>
              <a:t>Timeline: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67315" y="2446378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rPr dirty="0"/>
              <a:t>Funds deployed over 12 months with quarterly milestone reviews. Expected ROI: 10x within 3 years.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The people building India clinic operating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12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64592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64772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286000"/>
            <a:ext cx="2926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71600" y="2286000"/>
            <a:ext cx="2926080" cy="1828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77440" y="2651760"/>
            <a:ext cx="822960" cy="822960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77440" y="2743200"/>
            <a:ext cx="822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57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64772"/>
                </a:solidFill>
                <a:latin typeface="Calibri"/>
              </a:defRPr>
            </a:pPr>
            <a:r>
              <a:t>Founder &amp;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776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82832"/>
                </a:solidFill>
                <a:latin typeface="Calibri"/>
              </a:defRPr>
            </a:pPr>
            <a:r>
              <a:rPr dirty="0"/>
              <a:t>[Your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976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t>Business strategy,</a:t>
            </a:r>
            <a:br/>
            <a:r>
              <a:t>product vision,</a:t>
            </a:r>
            <a:br/>
            <a:r>
              <a:t>healthcare domain expertise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286000"/>
            <a:ext cx="2926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2286000"/>
            <a:ext cx="2926080" cy="18288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669280" y="2651760"/>
            <a:ext cx="822960" cy="82296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0" y="2743200"/>
            <a:ext cx="822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657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BBA8D"/>
                </a:solidFill>
                <a:latin typeface="Calibri"/>
              </a:defRPr>
            </a:pPr>
            <a:r>
              <a:t>Co-founder &amp; 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9776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82832"/>
                </a:solidFill>
                <a:latin typeface="Calibri"/>
              </a:defRPr>
            </a:pPr>
            <a:r>
              <a:t>[Name]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2976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t>Full-stack development,</a:t>
            </a:r>
            <a:br/>
            <a:r>
              <a:t>system architecture,</a:t>
            </a:r>
            <a:br/>
            <a:r>
              <a:t>AI/ML engineering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2286000"/>
            <a:ext cx="2926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55279" y="2286000"/>
            <a:ext cx="2926080" cy="18288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961119" y="2651760"/>
            <a:ext cx="822960" cy="82296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19" y="2743200"/>
            <a:ext cx="822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3657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E6A01E"/>
                </a:solidFill>
                <a:latin typeface="Calibri"/>
              </a:defRPr>
            </a:pPr>
            <a:r>
              <a:t>Advisor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39776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82832"/>
                </a:solidFill>
                <a:latin typeface="Calibri"/>
              </a:defRPr>
            </a:pPr>
            <a:r>
              <a:t>[Name]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42976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t>Healthcare industry mentor,</a:t>
            </a:r>
            <a:br/>
            <a:r>
              <a:t>IIT KGP network,</a:t>
            </a:r>
            <a:br/>
            <a:r>
              <a:t>strategic partnerships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t>Add team credentials, logos, and photos here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7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14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-914400"/>
            <a:ext cx="2286000" cy="2286000"/>
          </a:xfrm>
          <a:prstGeom prst="ellipse">
            <a:avLst/>
          </a:prstGeom>
          <a:solidFill>
            <a:srgbClr val="19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2743200" cy="13716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To become India's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Clinic &amp; Hospital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Operating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36576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ED2E6"/>
                </a:solidFill>
                <a:latin typeface="Calibri"/>
              </a:defRPr>
            </a:pPr>
            <a:r>
              <a:t>Making healthcare accessible by eliminating appointment friction,</a:t>
            </a:r>
            <a:br/>
            <a:r>
              <a:t>enabling AI-assisted diagnosis, connecting pharmacies to patients,</a:t>
            </a:r>
            <a:br/>
            <a:r>
              <a:t>and managing hospital beds efficiently - for 10 Lakh+ clinics</a:t>
            </a:r>
            <a:br/>
            <a:r>
              <a:t>and 50 Crore+ patients.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3195" y="2326005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BA8D"/>
                </a:solidFill>
                <a:latin typeface="Calibri"/>
              </a:defRPr>
            </a:pPr>
            <a:r>
              <a:rPr dirty="0"/>
              <a:t>Healthcare shouldn't start with waiting.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7545" y="2560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BA8D"/>
                </a:solidFill>
                <a:latin typeface="Calibri"/>
              </a:defRPr>
            </a:pPr>
            <a:r>
              <a:rPr dirty="0"/>
              <a:t>It should start with </a:t>
            </a:r>
            <a:r>
              <a:rPr dirty="0" err="1"/>
              <a:t>CatchQ</a:t>
            </a:r>
            <a:r>
              <a:rPr dirty="0"/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675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88CA0"/>
                </a:solidFill>
                <a:latin typeface="Calibri"/>
              </a:defRPr>
            </a:pPr>
            <a:r>
              <a:rPr dirty="0"/>
              <a:t>IIT Kharagpur Platinum Jubilee Seed Fund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2389</Words>
  <Application>Microsoft Office PowerPoint</Application>
  <PresentationFormat>Widescreen</PresentationFormat>
  <Paragraphs>591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Shubham kumar</cp:lastModifiedBy>
  <cp:revision>5</cp:revision>
  <dcterms:created xsi:type="dcterms:W3CDTF">2013-01-27T09:14:16Z</dcterms:created>
  <dcterms:modified xsi:type="dcterms:W3CDTF">2026-06-09T09:53:59Z</dcterms:modified>
  <cp:category/>
</cp:coreProperties>
</file>